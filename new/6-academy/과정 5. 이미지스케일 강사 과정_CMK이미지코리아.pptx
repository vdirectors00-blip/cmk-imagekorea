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59" r:id="rId4"/>
    <p:sldId id="260" r:id="rId5"/>
    <p:sldId id="265" r:id="rId6"/>
    <p:sldId id="261" r:id="rId7"/>
    <p:sldId id="262" r:id="rId8"/>
    <p:sldId id="263" r:id="rId9"/>
    <p:sldId id="264" r:id="rId10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4" d="100"/>
          <a:sy n="114" d="100"/>
        </p:scale>
        <p:origin x="4128" y="150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06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47BFFA-DF64-411E-96EC-E7D1506332B9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F23733-C277-48FD-ADC0-634457B8F7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0099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C8ADF3-F304-4CF8-A155-58F868AEBA45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7999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0DE83-2B4C-4A64-9492-91AF684CC363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93F3B-E94C-4B3B-A691-5958AFA3B1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1071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0DE83-2B4C-4A64-9492-91AF684CC363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93F3B-E94C-4B3B-A691-5958AFA3B1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5602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0DE83-2B4C-4A64-9492-91AF684CC363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93F3B-E94C-4B3B-A691-5958AFA3B1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5209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0DE83-2B4C-4A64-9492-91AF684CC363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93F3B-E94C-4B3B-A691-5958AFA3B1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8921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0DE83-2B4C-4A64-9492-91AF684CC363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93F3B-E94C-4B3B-A691-5958AFA3B1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531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0DE83-2B4C-4A64-9492-91AF684CC363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93F3B-E94C-4B3B-A691-5958AFA3B1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8184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0DE83-2B4C-4A64-9492-91AF684CC363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93F3B-E94C-4B3B-A691-5958AFA3B1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6632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0DE83-2B4C-4A64-9492-91AF684CC363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93F3B-E94C-4B3B-A691-5958AFA3B1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2172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0DE83-2B4C-4A64-9492-91AF684CC363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93F3B-E94C-4B3B-A691-5958AFA3B1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5820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0DE83-2B4C-4A64-9492-91AF684CC363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93F3B-E94C-4B3B-A691-5958AFA3B1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627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0DE83-2B4C-4A64-9492-91AF684CC363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93F3B-E94C-4B3B-A691-5958AFA3B1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3576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C0DE83-2B4C-4A64-9492-91AF684CC363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E93F3B-E94C-4B3B-A691-5958AFA3B1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3690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13" Type="http://schemas.openxmlformats.org/officeDocument/2006/relationships/image" Target="../media/image15.jpeg"/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12" Type="http://schemas.openxmlformats.org/officeDocument/2006/relationships/image" Target="../media/image14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11" Type="http://schemas.openxmlformats.org/officeDocument/2006/relationships/image" Target="../media/image13.jpeg"/><Relationship Id="rId5" Type="http://schemas.openxmlformats.org/officeDocument/2006/relationships/image" Target="../media/image7.jpeg"/><Relationship Id="rId15" Type="http://schemas.openxmlformats.org/officeDocument/2006/relationships/image" Target="../media/image17.jpeg"/><Relationship Id="rId10" Type="http://schemas.openxmlformats.org/officeDocument/2006/relationships/image" Target="../media/image12.jpeg"/><Relationship Id="rId4" Type="http://schemas.openxmlformats.org/officeDocument/2006/relationships/image" Target="../media/image6.jpeg"/><Relationship Id="rId9" Type="http://schemas.openxmlformats.org/officeDocument/2006/relationships/image" Target="../media/image11.jpeg"/><Relationship Id="rId14" Type="http://schemas.openxmlformats.org/officeDocument/2006/relationships/image" Target="../media/image1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 rot="16200000">
            <a:off x="-4270016" y="4257476"/>
            <a:ext cx="9144002" cy="637351"/>
          </a:xfrm>
          <a:prstGeom prst="rect">
            <a:avLst/>
          </a:prstGeom>
          <a:blipFill>
            <a:blip r:embed="rId3"/>
            <a:srcRect/>
            <a:stretch>
              <a:fillRect l="-27205" t="-90322" r="-9377" b="-87097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prstClr val="white"/>
                </a:solidFill>
                <a:latin typeface="+mn-ea"/>
              </a:rPr>
              <a:t>     CMK IMAGE KOREA CMK</a:t>
            </a:r>
            <a:r>
              <a:rPr lang="ko-KR" altLang="en-US" sz="1400" dirty="0">
                <a:solidFill>
                  <a:prstClr val="white"/>
                </a:solidFill>
                <a:latin typeface="+mn-ea"/>
              </a:rPr>
              <a:t>이미지코리아</a:t>
            </a:r>
            <a:endParaRPr lang="en-US" altLang="ko-KR" sz="1400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620661" y="2082559"/>
            <a:ext cx="6385879" cy="1193539"/>
          </a:xfrm>
          <a:prstGeom prst="roundRect">
            <a:avLst>
              <a:gd name="adj" fmla="val 5484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pPr algn="ctr"/>
            <a:r>
              <a:rPr lang="ko-KR" altLang="en-US" sz="2800" b="1" spc="-300" dirty="0" err="1">
                <a:gradFill>
                  <a:gsLst>
                    <a:gs pos="0">
                      <a:srgbClr val="CC99FF"/>
                    </a:gs>
                    <a:gs pos="100000">
                      <a:srgbClr val="5E4C8A"/>
                    </a:gs>
                    <a:gs pos="48000">
                      <a:srgbClr val="8D63B2"/>
                    </a:gs>
                  </a:gsLst>
                  <a:lin ang="13500000" scaled="1"/>
                </a:gradFill>
                <a:latin typeface="+mn-ea"/>
              </a:rPr>
              <a:t>테이스트</a:t>
            </a:r>
            <a:r>
              <a:rPr lang="ko-KR" altLang="en-US" sz="2800" b="1" spc="-300" dirty="0">
                <a:gradFill>
                  <a:gsLst>
                    <a:gs pos="0">
                      <a:srgbClr val="CC99FF"/>
                    </a:gs>
                    <a:gs pos="100000">
                      <a:srgbClr val="5E4C8A"/>
                    </a:gs>
                    <a:gs pos="48000">
                      <a:srgbClr val="8D63B2"/>
                    </a:gs>
                  </a:gsLst>
                  <a:lin ang="13500000" scaled="1"/>
                </a:gradFill>
                <a:latin typeface="+mn-ea"/>
              </a:rPr>
              <a:t> 이미지스케일 강사 과정</a:t>
            </a:r>
            <a:endParaRPr lang="en-US" altLang="ko-KR" sz="2800" b="1" spc="-300" dirty="0">
              <a:gradFill>
                <a:gsLst>
                  <a:gs pos="0">
                    <a:srgbClr val="CC99FF"/>
                  </a:gs>
                  <a:gs pos="100000">
                    <a:srgbClr val="5E4C8A"/>
                  </a:gs>
                  <a:gs pos="48000">
                    <a:srgbClr val="8D63B2"/>
                  </a:gs>
                </a:gsLst>
                <a:lin ang="13500000" scaled="1"/>
              </a:gradFill>
              <a:latin typeface="+mn-ea"/>
            </a:endParaRPr>
          </a:p>
          <a:p>
            <a:pPr algn="ctr"/>
            <a:r>
              <a:rPr lang="en-US" altLang="ko-KR" sz="2800" b="1" spc="-300" dirty="0">
                <a:gradFill>
                  <a:gsLst>
                    <a:gs pos="0">
                      <a:srgbClr val="CC99FF"/>
                    </a:gs>
                    <a:gs pos="100000">
                      <a:srgbClr val="5E4C8A"/>
                    </a:gs>
                    <a:gs pos="48000">
                      <a:srgbClr val="8D63B2"/>
                    </a:gs>
                  </a:gsLst>
                  <a:lin ang="13500000" scaled="1"/>
                </a:gradFill>
                <a:latin typeface="+mn-ea"/>
              </a:rPr>
              <a:t>TASTE IMAGE SCALE PROGRAM</a:t>
            </a:r>
            <a:endParaRPr lang="ko-KR" altLang="en-US" sz="2800" b="1" spc="-300" dirty="0">
              <a:gradFill>
                <a:gsLst>
                  <a:gs pos="0">
                    <a:srgbClr val="CC99FF"/>
                  </a:gs>
                  <a:gs pos="100000">
                    <a:srgbClr val="5E4C8A"/>
                  </a:gs>
                  <a:gs pos="48000">
                    <a:srgbClr val="8D63B2"/>
                  </a:gs>
                </a:gsLst>
                <a:lin ang="13500000" scaled="1"/>
              </a:gradFill>
              <a:latin typeface="+mn-ea"/>
            </a:endParaRPr>
          </a:p>
        </p:txBody>
      </p:sp>
      <p:cxnSp>
        <p:nvCxnSpPr>
          <p:cNvPr id="55" name="직선 연결선 54"/>
          <p:cNvCxnSpPr/>
          <p:nvPr/>
        </p:nvCxnSpPr>
        <p:spPr>
          <a:xfrm flipH="1">
            <a:off x="2271947" y="3925378"/>
            <a:ext cx="1" cy="2038085"/>
          </a:xfrm>
          <a:prstGeom prst="line">
            <a:avLst/>
          </a:prstGeom>
          <a:ln w="28575">
            <a:solidFill>
              <a:srgbClr val="5F4B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그룹 15"/>
          <p:cNvGrpSpPr/>
          <p:nvPr/>
        </p:nvGrpSpPr>
        <p:grpSpPr>
          <a:xfrm>
            <a:off x="1028265" y="4451125"/>
            <a:ext cx="1031051" cy="1040951"/>
            <a:chOff x="1422959" y="4793001"/>
            <a:chExt cx="1031051" cy="1127697"/>
          </a:xfrm>
        </p:grpSpPr>
        <p:grpSp>
          <p:nvGrpSpPr>
            <p:cNvPr id="19" name="그룹 18"/>
            <p:cNvGrpSpPr/>
            <p:nvPr/>
          </p:nvGrpSpPr>
          <p:grpSpPr>
            <a:xfrm>
              <a:off x="1668484" y="4793001"/>
              <a:ext cx="540000" cy="540000"/>
              <a:chOff x="1530615" y="3607452"/>
              <a:chExt cx="756000" cy="756000"/>
            </a:xfrm>
          </p:grpSpPr>
          <p:sp>
            <p:nvSpPr>
              <p:cNvPr id="51" name="타원 50"/>
              <p:cNvSpPr/>
              <p:nvPr/>
            </p:nvSpPr>
            <p:spPr>
              <a:xfrm>
                <a:off x="1530615" y="3607452"/>
                <a:ext cx="756000" cy="756000"/>
              </a:xfrm>
              <a:prstGeom prst="ellipse">
                <a:avLst/>
              </a:prstGeom>
              <a:solidFill>
                <a:srgbClr val="5F4B8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2" name="Freeform 11"/>
              <p:cNvSpPr>
                <a:spLocks noEditPoints="1"/>
              </p:cNvSpPr>
              <p:nvPr/>
            </p:nvSpPr>
            <p:spPr bwMode="auto">
              <a:xfrm>
                <a:off x="1779266" y="3826647"/>
                <a:ext cx="258699" cy="317610"/>
              </a:xfrm>
              <a:custGeom>
                <a:avLst/>
                <a:gdLst>
                  <a:gd name="T0" fmla="*/ 1930 w 2831"/>
                  <a:gd name="T1" fmla="*/ 2787 h 3472"/>
                  <a:gd name="T2" fmla="*/ 1791 w 2831"/>
                  <a:gd name="T3" fmla="*/ 2855 h 3472"/>
                  <a:gd name="T4" fmla="*/ 2114 w 2831"/>
                  <a:gd name="T5" fmla="*/ 3172 h 3472"/>
                  <a:gd name="T6" fmla="*/ 2628 w 2831"/>
                  <a:gd name="T7" fmla="*/ 2656 h 3472"/>
                  <a:gd name="T8" fmla="*/ 2538 w 2831"/>
                  <a:gd name="T9" fmla="*/ 2529 h 3472"/>
                  <a:gd name="T10" fmla="*/ 1440 w 2831"/>
                  <a:gd name="T11" fmla="*/ 2529 h 3472"/>
                  <a:gd name="T12" fmla="*/ 914 w 2831"/>
                  <a:gd name="T13" fmla="*/ 2569 h 3472"/>
                  <a:gd name="T14" fmla="*/ 928 w 2831"/>
                  <a:gd name="T15" fmla="*/ 2433 h 3472"/>
                  <a:gd name="T16" fmla="*/ 807 w 2831"/>
                  <a:gd name="T17" fmla="*/ 2382 h 3472"/>
                  <a:gd name="T18" fmla="*/ 439 w 2831"/>
                  <a:gd name="T19" fmla="*/ 2514 h 3472"/>
                  <a:gd name="T20" fmla="*/ 470 w 2831"/>
                  <a:gd name="T21" fmla="*/ 2433 h 3472"/>
                  <a:gd name="T22" fmla="*/ 2186 w 2831"/>
                  <a:gd name="T23" fmla="*/ 2182 h 3472"/>
                  <a:gd name="T24" fmla="*/ 2642 w 2831"/>
                  <a:gd name="T25" fmla="*/ 2371 h 3472"/>
                  <a:gd name="T26" fmla="*/ 2831 w 2831"/>
                  <a:gd name="T27" fmla="*/ 2827 h 3472"/>
                  <a:gd name="T28" fmla="*/ 2642 w 2831"/>
                  <a:gd name="T29" fmla="*/ 3283 h 3472"/>
                  <a:gd name="T30" fmla="*/ 2186 w 2831"/>
                  <a:gd name="T31" fmla="*/ 3472 h 3472"/>
                  <a:gd name="T32" fmla="*/ 1729 w 2831"/>
                  <a:gd name="T33" fmla="*/ 3283 h 3472"/>
                  <a:gd name="T34" fmla="*/ 1540 w 2831"/>
                  <a:gd name="T35" fmla="*/ 2827 h 3472"/>
                  <a:gd name="T36" fmla="*/ 1729 w 2831"/>
                  <a:gd name="T37" fmla="*/ 2371 h 3472"/>
                  <a:gd name="T38" fmla="*/ 2186 w 2831"/>
                  <a:gd name="T39" fmla="*/ 2182 h 3472"/>
                  <a:gd name="T40" fmla="*/ 1540 w 2831"/>
                  <a:gd name="T41" fmla="*/ 2083 h 3472"/>
                  <a:gd name="T42" fmla="*/ 914 w 2831"/>
                  <a:gd name="T43" fmla="*/ 2123 h 3472"/>
                  <a:gd name="T44" fmla="*/ 928 w 2831"/>
                  <a:gd name="T45" fmla="*/ 1986 h 3472"/>
                  <a:gd name="T46" fmla="*/ 807 w 2831"/>
                  <a:gd name="T47" fmla="*/ 1957 h 3472"/>
                  <a:gd name="T48" fmla="*/ 439 w 2831"/>
                  <a:gd name="T49" fmla="*/ 2088 h 3472"/>
                  <a:gd name="T50" fmla="*/ 470 w 2831"/>
                  <a:gd name="T51" fmla="*/ 2007 h 3472"/>
                  <a:gd name="T52" fmla="*/ 944 w 2831"/>
                  <a:gd name="T53" fmla="*/ 1588 h 3472"/>
                  <a:gd name="T54" fmla="*/ 1786 w 2831"/>
                  <a:gd name="T55" fmla="*/ 1702 h 3472"/>
                  <a:gd name="T56" fmla="*/ 904 w 2831"/>
                  <a:gd name="T57" fmla="*/ 1716 h 3472"/>
                  <a:gd name="T58" fmla="*/ 944 w 2831"/>
                  <a:gd name="T59" fmla="*/ 1588 h 3472"/>
                  <a:gd name="T60" fmla="*/ 800 w 2831"/>
                  <a:gd name="T61" fmla="*/ 1548 h 3472"/>
                  <a:gd name="T62" fmla="*/ 430 w 2831"/>
                  <a:gd name="T63" fmla="*/ 1656 h 3472"/>
                  <a:gd name="T64" fmla="*/ 484 w 2831"/>
                  <a:gd name="T65" fmla="*/ 1589 h 3472"/>
                  <a:gd name="T66" fmla="*/ 1738 w 2831"/>
                  <a:gd name="T67" fmla="*/ 1140 h 3472"/>
                  <a:gd name="T68" fmla="*/ 1778 w 2831"/>
                  <a:gd name="T69" fmla="*/ 1269 h 3472"/>
                  <a:gd name="T70" fmla="*/ 896 w 2831"/>
                  <a:gd name="T71" fmla="*/ 1255 h 3472"/>
                  <a:gd name="T72" fmla="*/ 769 w 2831"/>
                  <a:gd name="T73" fmla="*/ 1030 h 3472"/>
                  <a:gd name="T74" fmla="*/ 616 w 2831"/>
                  <a:gd name="T75" fmla="*/ 1312 h 3472"/>
                  <a:gd name="T76" fmla="*/ 423 w 2831"/>
                  <a:gd name="T77" fmla="*/ 1202 h 3472"/>
                  <a:gd name="T78" fmla="*/ 496 w 2831"/>
                  <a:gd name="T79" fmla="*/ 1154 h 3472"/>
                  <a:gd name="T80" fmla="*/ 548 w 2831"/>
                  <a:gd name="T81" fmla="*/ 372 h 3472"/>
                  <a:gd name="T82" fmla="*/ 681 w 2831"/>
                  <a:gd name="T83" fmla="*/ 618 h 3472"/>
                  <a:gd name="T84" fmla="*/ 1588 w 2831"/>
                  <a:gd name="T85" fmla="*/ 597 h 3472"/>
                  <a:gd name="T86" fmla="*/ 1683 w 2831"/>
                  <a:gd name="T87" fmla="*/ 347 h 3472"/>
                  <a:gd name="T88" fmla="*/ 2201 w 2831"/>
                  <a:gd name="T89" fmla="*/ 438 h 3472"/>
                  <a:gd name="T90" fmla="*/ 2118 w 2831"/>
                  <a:gd name="T91" fmla="*/ 2037 h 3472"/>
                  <a:gd name="T92" fmla="*/ 1412 w 2831"/>
                  <a:gd name="T93" fmla="*/ 3005 h 3472"/>
                  <a:gd name="T94" fmla="*/ 47 w 2831"/>
                  <a:gd name="T95" fmla="*/ 3054 h 3472"/>
                  <a:gd name="T96" fmla="*/ 21 w 2831"/>
                  <a:gd name="T97" fmla="*/ 455 h 3472"/>
                  <a:gd name="T98" fmla="*/ 1118 w 2831"/>
                  <a:gd name="T99" fmla="*/ 99 h 3472"/>
                  <a:gd name="T100" fmla="*/ 1053 w 2831"/>
                  <a:gd name="T101" fmla="*/ 211 h 3472"/>
                  <a:gd name="T102" fmla="*/ 1182 w 2831"/>
                  <a:gd name="T103" fmla="*/ 211 h 3472"/>
                  <a:gd name="T104" fmla="*/ 1118 w 2831"/>
                  <a:gd name="T105" fmla="*/ 99 h 3472"/>
                  <a:gd name="T106" fmla="*/ 1268 w 2831"/>
                  <a:gd name="T107" fmla="*/ 85 h 3472"/>
                  <a:gd name="T108" fmla="*/ 1328 w 2831"/>
                  <a:gd name="T109" fmla="*/ 238 h 3472"/>
                  <a:gd name="T110" fmla="*/ 1564 w 2831"/>
                  <a:gd name="T111" fmla="*/ 312 h 3472"/>
                  <a:gd name="T112" fmla="*/ 1547 w 2831"/>
                  <a:gd name="T113" fmla="*/ 503 h 3472"/>
                  <a:gd name="T114" fmla="*/ 711 w 2831"/>
                  <a:gd name="T115" fmla="*/ 521 h 3472"/>
                  <a:gd name="T116" fmla="*/ 657 w 2831"/>
                  <a:gd name="T117" fmla="*/ 338 h 3472"/>
                  <a:gd name="T118" fmla="*/ 889 w 2831"/>
                  <a:gd name="T119" fmla="*/ 245 h 3472"/>
                  <a:gd name="T120" fmla="*/ 954 w 2831"/>
                  <a:gd name="T121" fmla="*/ 112 h 34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831" h="3472">
                    <a:moveTo>
                      <a:pt x="2538" y="2529"/>
                    </a:moveTo>
                    <a:lnTo>
                      <a:pt x="2517" y="2531"/>
                    </a:lnTo>
                    <a:lnTo>
                      <a:pt x="2496" y="2537"/>
                    </a:lnTo>
                    <a:lnTo>
                      <a:pt x="2476" y="2547"/>
                    </a:lnTo>
                    <a:lnTo>
                      <a:pt x="2459" y="2563"/>
                    </a:lnTo>
                    <a:lnTo>
                      <a:pt x="2124" y="2939"/>
                    </a:lnTo>
                    <a:lnTo>
                      <a:pt x="1950" y="2800"/>
                    </a:lnTo>
                    <a:lnTo>
                      <a:pt x="1930" y="2787"/>
                    </a:lnTo>
                    <a:lnTo>
                      <a:pt x="1909" y="2780"/>
                    </a:lnTo>
                    <a:lnTo>
                      <a:pt x="1888" y="2778"/>
                    </a:lnTo>
                    <a:lnTo>
                      <a:pt x="1866" y="2780"/>
                    </a:lnTo>
                    <a:lnTo>
                      <a:pt x="1845" y="2787"/>
                    </a:lnTo>
                    <a:lnTo>
                      <a:pt x="1826" y="2799"/>
                    </a:lnTo>
                    <a:lnTo>
                      <a:pt x="1810" y="2814"/>
                    </a:lnTo>
                    <a:lnTo>
                      <a:pt x="1797" y="2834"/>
                    </a:lnTo>
                    <a:lnTo>
                      <a:pt x="1791" y="2855"/>
                    </a:lnTo>
                    <a:lnTo>
                      <a:pt x="1788" y="2876"/>
                    </a:lnTo>
                    <a:lnTo>
                      <a:pt x="1791" y="2899"/>
                    </a:lnTo>
                    <a:lnTo>
                      <a:pt x="1797" y="2920"/>
                    </a:lnTo>
                    <a:lnTo>
                      <a:pt x="1809" y="2938"/>
                    </a:lnTo>
                    <a:lnTo>
                      <a:pt x="1826" y="2954"/>
                    </a:lnTo>
                    <a:lnTo>
                      <a:pt x="2073" y="3152"/>
                    </a:lnTo>
                    <a:lnTo>
                      <a:pt x="2093" y="3165"/>
                    </a:lnTo>
                    <a:lnTo>
                      <a:pt x="2114" y="3172"/>
                    </a:lnTo>
                    <a:lnTo>
                      <a:pt x="2135" y="3174"/>
                    </a:lnTo>
                    <a:lnTo>
                      <a:pt x="2156" y="3172"/>
                    </a:lnTo>
                    <a:lnTo>
                      <a:pt x="2175" y="3166"/>
                    </a:lnTo>
                    <a:lnTo>
                      <a:pt x="2194" y="3155"/>
                    </a:lnTo>
                    <a:lnTo>
                      <a:pt x="2210" y="3142"/>
                    </a:lnTo>
                    <a:lnTo>
                      <a:pt x="2607" y="2694"/>
                    </a:lnTo>
                    <a:lnTo>
                      <a:pt x="2620" y="2676"/>
                    </a:lnTo>
                    <a:lnTo>
                      <a:pt x="2628" y="2656"/>
                    </a:lnTo>
                    <a:lnTo>
                      <a:pt x="2633" y="2633"/>
                    </a:lnTo>
                    <a:lnTo>
                      <a:pt x="2631" y="2612"/>
                    </a:lnTo>
                    <a:lnTo>
                      <a:pt x="2625" y="2591"/>
                    </a:lnTo>
                    <a:lnTo>
                      <a:pt x="2615" y="2571"/>
                    </a:lnTo>
                    <a:lnTo>
                      <a:pt x="2599" y="2555"/>
                    </a:lnTo>
                    <a:lnTo>
                      <a:pt x="2580" y="2542"/>
                    </a:lnTo>
                    <a:lnTo>
                      <a:pt x="2560" y="2534"/>
                    </a:lnTo>
                    <a:lnTo>
                      <a:pt x="2538" y="2529"/>
                    </a:lnTo>
                    <a:close/>
                    <a:moveTo>
                      <a:pt x="944" y="2430"/>
                    </a:moveTo>
                    <a:lnTo>
                      <a:pt x="1391" y="2430"/>
                    </a:lnTo>
                    <a:lnTo>
                      <a:pt x="1406" y="2433"/>
                    </a:lnTo>
                    <a:lnTo>
                      <a:pt x="1420" y="2440"/>
                    </a:lnTo>
                    <a:lnTo>
                      <a:pt x="1431" y="2450"/>
                    </a:lnTo>
                    <a:lnTo>
                      <a:pt x="1438" y="2464"/>
                    </a:lnTo>
                    <a:lnTo>
                      <a:pt x="1440" y="2480"/>
                    </a:lnTo>
                    <a:lnTo>
                      <a:pt x="1440" y="2529"/>
                    </a:lnTo>
                    <a:lnTo>
                      <a:pt x="1438" y="2545"/>
                    </a:lnTo>
                    <a:lnTo>
                      <a:pt x="1431" y="2559"/>
                    </a:lnTo>
                    <a:lnTo>
                      <a:pt x="1420" y="2569"/>
                    </a:lnTo>
                    <a:lnTo>
                      <a:pt x="1406" y="2577"/>
                    </a:lnTo>
                    <a:lnTo>
                      <a:pt x="1391" y="2579"/>
                    </a:lnTo>
                    <a:lnTo>
                      <a:pt x="944" y="2579"/>
                    </a:lnTo>
                    <a:lnTo>
                      <a:pt x="928" y="2577"/>
                    </a:lnTo>
                    <a:lnTo>
                      <a:pt x="914" y="2569"/>
                    </a:lnTo>
                    <a:lnTo>
                      <a:pt x="904" y="2559"/>
                    </a:lnTo>
                    <a:lnTo>
                      <a:pt x="896" y="2545"/>
                    </a:lnTo>
                    <a:lnTo>
                      <a:pt x="894" y="2529"/>
                    </a:lnTo>
                    <a:lnTo>
                      <a:pt x="894" y="2480"/>
                    </a:lnTo>
                    <a:lnTo>
                      <a:pt x="896" y="2464"/>
                    </a:lnTo>
                    <a:lnTo>
                      <a:pt x="904" y="2450"/>
                    </a:lnTo>
                    <a:lnTo>
                      <a:pt x="914" y="2440"/>
                    </a:lnTo>
                    <a:lnTo>
                      <a:pt x="928" y="2433"/>
                    </a:lnTo>
                    <a:lnTo>
                      <a:pt x="944" y="2430"/>
                    </a:lnTo>
                    <a:close/>
                    <a:moveTo>
                      <a:pt x="769" y="2319"/>
                    </a:moveTo>
                    <a:lnTo>
                      <a:pt x="783" y="2322"/>
                    </a:lnTo>
                    <a:lnTo>
                      <a:pt x="795" y="2330"/>
                    </a:lnTo>
                    <a:lnTo>
                      <a:pt x="805" y="2341"/>
                    </a:lnTo>
                    <a:lnTo>
                      <a:pt x="810" y="2355"/>
                    </a:lnTo>
                    <a:lnTo>
                      <a:pt x="810" y="2368"/>
                    </a:lnTo>
                    <a:lnTo>
                      <a:pt x="807" y="2382"/>
                    </a:lnTo>
                    <a:lnTo>
                      <a:pt x="800" y="2395"/>
                    </a:lnTo>
                    <a:lnTo>
                      <a:pt x="616" y="2600"/>
                    </a:lnTo>
                    <a:lnTo>
                      <a:pt x="606" y="2608"/>
                    </a:lnTo>
                    <a:lnTo>
                      <a:pt x="594" y="2613"/>
                    </a:lnTo>
                    <a:lnTo>
                      <a:pt x="581" y="2616"/>
                    </a:lnTo>
                    <a:lnTo>
                      <a:pt x="567" y="2612"/>
                    </a:lnTo>
                    <a:lnTo>
                      <a:pt x="553" y="2605"/>
                    </a:lnTo>
                    <a:lnTo>
                      <a:pt x="439" y="2514"/>
                    </a:lnTo>
                    <a:lnTo>
                      <a:pt x="430" y="2503"/>
                    </a:lnTo>
                    <a:lnTo>
                      <a:pt x="423" y="2490"/>
                    </a:lnTo>
                    <a:lnTo>
                      <a:pt x="422" y="2477"/>
                    </a:lnTo>
                    <a:lnTo>
                      <a:pt x="425" y="2463"/>
                    </a:lnTo>
                    <a:lnTo>
                      <a:pt x="432" y="2449"/>
                    </a:lnTo>
                    <a:lnTo>
                      <a:pt x="442" y="2440"/>
                    </a:lnTo>
                    <a:lnTo>
                      <a:pt x="456" y="2435"/>
                    </a:lnTo>
                    <a:lnTo>
                      <a:pt x="470" y="2433"/>
                    </a:lnTo>
                    <a:lnTo>
                      <a:pt x="484" y="2436"/>
                    </a:lnTo>
                    <a:lnTo>
                      <a:pt x="496" y="2443"/>
                    </a:lnTo>
                    <a:lnTo>
                      <a:pt x="576" y="2507"/>
                    </a:lnTo>
                    <a:lnTo>
                      <a:pt x="731" y="2334"/>
                    </a:lnTo>
                    <a:lnTo>
                      <a:pt x="742" y="2324"/>
                    </a:lnTo>
                    <a:lnTo>
                      <a:pt x="755" y="2320"/>
                    </a:lnTo>
                    <a:lnTo>
                      <a:pt x="769" y="2319"/>
                    </a:lnTo>
                    <a:close/>
                    <a:moveTo>
                      <a:pt x="2186" y="2182"/>
                    </a:moveTo>
                    <a:lnTo>
                      <a:pt x="2251" y="2185"/>
                    </a:lnTo>
                    <a:lnTo>
                      <a:pt x="2316" y="2196"/>
                    </a:lnTo>
                    <a:lnTo>
                      <a:pt x="2378" y="2212"/>
                    </a:lnTo>
                    <a:lnTo>
                      <a:pt x="2437" y="2233"/>
                    </a:lnTo>
                    <a:lnTo>
                      <a:pt x="2494" y="2260"/>
                    </a:lnTo>
                    <a:lnTo>
                      <a:pt x="2546" y="2293"/>
                    </a:lnTo>
                    <a:lnTo>
                      <a:pt x="2596" y="2329"/>
                    </a:lnTo>
                    <a:lnTo>
                      <a:pt x="2642" y="2371"/>
                    </a:lnTo>
                    <a:lnTo>
                      <a:pt x="2683" y="2417"/>
                    </a:lnTo>
                    <a:lnTo>
                      <a:pt x="2721" y="2466"/>
                    </a:lnTo>
                    <a:lnTo>
                      <a:pt x="2753" y="2520"/>
                    </a:lnTo>
                    <a:lnTo>
                      <a:pt x="2780" y="2577"/>
                    </a:lnTo>
                    <a:lnTo>
                      <a:pt x="2802" y="2636"/>
                    </a:lnTo>
                    <a:lnTo>
                      <a:pt x="2818" y="2698"/>
                    </a:lnTo>
                    <a:lnTo>
                      <a:pt x="2828" y="2761"/>
                    </a:lnTo>
                    <a:lnTo>
                      <a:pt x="2831" y="2827"/>
                    </a:lnTo>
                    <a:lnTo>
                      <a:pt x="2828" y="2893"/>
                    </a:lnTo>
                    <a:lnTo>
                      <a:pt x="2818" y="2958"/>
                    </a:lnTo>
                    <a:lnTo>
                      <a:pt x="2802" y="3019"/>
                    </a:lnTo>
                    <a:lnTo>
                      <a:pt x="2780" y="3079"/>
                    </a:lnTo>
                    <a:lnTo>
                      <a:pt x="2753" y="3134"/>
                    </a:lnTo>
                    <a:lnTo>
                      <a:pt x="2721" y="3188"/>
                    </a:lnTo>
                    <a:lnTo>
                      <a:pt x="2683" y="3237"/>
                    </a:lnTo>
                    <a:lnTo>
                      <a:pt x="2642" y="3283"/>
                    </a:lnTo>
                    <a:lnTo>
                      <a:pt x="2596" y="3325"/>
                    </a:lnTo>
                    <a:lnTo>
                      <a:pt x="2546" y="3362"/>
                    </a:lnTo>
                    <a:lnTo>
                      <a:pt x="2494" y="3394"/>
                    </a:lnTo>
                    <a:lnTo>
                      <a:pt x="2437" y="3421"/>
                    </a:lnTo>
                    <a:lnTo>
                      <a:pt x="2378" y="3443"/>
                    </a:lnTo>
                    <a:lnTo>
                      <a:pt x="2316" y="3459"/>
                    </a:lnTo>
                    <a:lnTo>
                      <a:pt x="2251" y="3469"/>
                    </a:lnTo>
                    <a:lnTo>
                      <a:pt x="2186" y="3472"/>
                    </a:lnTo>
                    <a:lnTo>
                      <a:pt x="2120" y="3469"/>
                    </a:lnTo>
                    <a:lnTo>
                      <a:pt x="2055" y="3459"/>
                    </a:lnTo>
                    <a:lnTo>
                      <a:pt x="1993" y="3443"/>
                    </a:lnTo>
                    <a:lnTo>
                      <a:pt x="1934" y="3421"/>
                    </a:lnTo>
                    <a:lnTo>
                      <a:pt x="1877" y="3394"/>
                    </a:lnTo>
                    <a:lnTo>
                      <a:pt x="1825" y="3362"/>
                    </a:lnTo>
                    <a:lnTo>
                      <a:pt x="1775" y="3325"/>
                    </a:lnTo>
                    <a:lnTo>
                      <a:pt x="1729" y="3283"/>
                    </a:lnTo>
                    <a:lnTo>
                      <a:pt x="1688" y="3237"/>
                    </a:lnTo>
                    <a:lnTo>
                      <a:pt x="1650" y="3188"/>
                    </a:lnTo>
                    <a:lnTo>
                      <a:pt x="1618" y="3134"/>
                    </a:lnTo>
                    <a:lnTo>
                      <a:pt x="1591" y="3079"/>
                    </a:lnTo>
                    <a:lnTo>
                      <a:pt x="1569" y="3019"/>
                    </a:lnTo>
                    <a:lnTo>
                      <a:pt x="1553" y="2958"/>
                    </a:lnTo>
                    <a:lnTo>
                      <a:pt x="1543" y="2893"/>
                    </a:lnTo>
                    <a:lnTo>
                      <a:pt x="1540" y="2827"/>
                    </a:lnTo>
                    <a:lnTo>
                      <a:pt x="1543" y="2761"/>
                    </a:lnTo>
                    <a:lnTo>
                      <a:pt x="1553" y="2698"/>
                    </a:lnTo>
                    <a:lnTo>
                      <a:pt x="1569" y="2636"/>
                    </a:lnTo>
                    <a:lnTo>
                      <a:pt x="1591" y="2577"/>
                    </a:lnTo>
                    <a:lnTo>
                      <a:pt x="1618" y="2520"/>
                    </a:lnTo>
                    <a:lnTo>
                      <a:pt x="1650" y="2466"/>
                    </a:lnTo>
                    <a:lnTo>
                      <a:pt x="1688" y="2417"/>
                    </a:lnTo>
                    <a:lnTo>
                      <a:pt x="1729" y="2371"/>
                    </a:lnTo>
                    <a:lnTo>
                      <a:pt x="1775" y="2329"/>
                    </a:lnTo>
                    <a:lnTo>
                      <a:pt x="1825" y="2293"/>
                    </a:lnTo>
                    <a:lnTo>
                      <a:pt x="1877" y="2260"/>
                    </a:lnTo>
                    <a:lnTo>
                      <a:pt x="1934" y="2233"/>
                    </a:lnTo>
                    <a:lnTo>
                      <a:pt x="1993" y="2212"/>
                    </a:lnTo>
                    <a:lnTo>
                      <a:pt x="2055" y="2196"/>
                    </a:lnTo>
                    <a:lnTo>
                      <a:pt x="2120" y="2185"/>
                    </a:lnTo>
                    <a:lnTo>
                      <a:pt x="2186" y="2182"/>
                    </a:lnTo>
                    <a:close/>
                    <a:moveTo>
                      <a:pt x="944" y="1984"/>
                    </a:moveTo>
                    <a:lnTo>
                      <a:pt x="1491" y="1984"/>
                    </a:lnTo>
                    <a:lnTo>
                      <a:pt x="1505" y="1986"/>
                    </a:lnTo>
                    <a:lnTo>
                      <a:pt x="1519" y="1994"/>
                    </a:lnTo>
                    <a:lnTo>
                      <a:pt x="1531" y="2004"/>
                    </a:lnTo>
                    <a:lnTo>
                      <a:pt x="1537" y="2018"/>
                    </a:lnTo>
                    <a:lnTo>
                      <a:pt x="1540" y="2034"/>
                    </a:lnTo>
                    <a:lnTo>
                      <a:pt x="1540" y="2083"/>
                    </a:lnTo>
                    <a:lnTo>
                      <a:pt x="1537" y="2099"/>
                    </a:lnTo>
                    <a:lnTo>
                      <a:pt x="1531" y="2113"/>
                    </a:lnTo>
                    <a:lnTo>
                      <a:pt x="1519" y="2123"/>
                    </a:lnTo>
                    <a:lnTo>
                      <a:pt x="1505" y="2131"/>
                    </a:lnTo>
                    <a:lnTo>
                      <a:pt x="1491" y="2133"/>
                    </a:lnTo>
                    <a:lnTo>
                      <a:pt x="944" y="2133"/>
                    </a:lnTo>
                    <a:lnTo>
                      <a:pt x="928" y="2131"/>
                    </a:lnTo>
                    <a:lnTo>
                      <a:pt x="914" y="2123"/>
                    </a:lnTo>
                    <a:lnTo>
                      <a:pt x="904" y="2113"/>
                    </a:lnTo>
                    <a:lnTo>
                      <a:pt x="896" y="2099"/>
                    </a:lnTo>
                    <a:lnTo>
                      <a:pt x="894" y="2083"/>
                    </a:lnTo>
                    <a:lnTo>
                      <a:pt x="894" y="2034"/>
                    </a:lnTo>
                    <a:lnTo>
                      <a:pt x="896" y="2018"/>
                    </a:lnTo>
                    <a:lnTo>
                      <a:pt x="904" y="2004"/>
                    </a:lnTo>
                    <a:lnTo>
                      <a:pt x="914" y="1994"/>
                    </a:lnTo>
                    <a:lnTo>
                      <a:pt x="928" y="1986"/>
                    </a:lnTo>
                    <a:lnTo>
                      <a:pt x="944" y="1984"/>
                    </a:lnTo>
                    <a:close/>
                    <a:moveTo>
                      <a:pt x="769" y="1894"/>
                    </a:moveTo>
                    <a:lnTo>
                      <a:pt x="783" y="1897"/>
                    </a:lnTo>
                    <a:lnTo>
                      <a:pt x="795" y="1905"/>
                    </a:lnTo>
                    <a:lnTo>
                      <a:pt x="805" y="1916"/>
                    </a:lnTo>
                    <a:lnTo>
                      <a:pt x="810" y="1930"/>
                    </a:lnTo>
                    <a:lnTo>
                      <a:pt x="810" y="1943"/>
                    </a:lnTo>
                    <a:lnTo>
                      <a:pt x="807" y="1957"/>
                    </a:lnTo>
                    <a:lnTo>
                      <a:pt x="800" y="1970"/>
                    </a:lnTo>
                    <a:lnTo>
                      <a:pt x="616" y="2175"/>
                    </a:lnTo>
                    <a:lnTo>
                      <a:pt x="606" y="2183"/>
                    </a:lnTo>
                    <a:lnTo>
                      <a:pt x="594" y="2188"/>
                    </a:lnTo>
                    <a:lnTo>
                      <a:pt x="581" y="2191"/>
                    </a:lnTo>
                    <a:lnTo>
                      <a:pt x="567" y="2187"/>
                    </a:lnTo>
                    <a:lnTo>
                      <a:pt x="553" y="2180"/>
                    </a:lnTo>
                    <a:lnTo>
                      <a:pt x="439" y="2088"/>
                    </a:lnTo>
                    <a:lnTo>
                      <a:pt x="430" y="2078"/>
                    </a:lnTo>
                    <a:lnTo>
                      <a:pt x="423" y="2065"/>
                    </a:lnTo>
                    <a:lnTo>
                      <a:pt x="422" y="2052"/>
                    </a:lnTo>
                    <a:lnTo>
                      <a:pt x="425" y="2038"/>
                    </a:lnTo>
                    <a:lnTo>
                      <a:pt x="432" y="2024"/>
                    </a:lnTo>
                    <a:lnTo>
                      <a:pt x="442" y="2015"/>
                    </a:lnTo>
                    <a:lnTo>
                      <a:pt x="456" y="2010"/>
                    </a:lnTo>
                    <a:lnTo>
                      <a:pt x="470" y="2007"/>
                    </a:lnTo>
                    <a:lnTo>
                      <a:pt x="484" y="2011"/>
                    </a:lnTo>
                    <a:lnTo>
                      <a:pt x="496" y="2018"/>
                    </a:lnTo>
                    <a:lnTo>
                      <a:pt x="576" y="2082"/>
                    </a:lnTo>
                    <a:lnTo>
                      <a:pt x="731" y="1909"/>
                    </a:lnTo>
                    <a:lnTo>
                      <a:pt x="742" y="1899"/>
                    </a:lnTo>
                    <a:lnTo>
                      <a:pt x="755" y="1895"/>
                    </a:lnTo>
                    <a:lnTo>
                      <a:pt x="769" y="1894"/>
                    </a:lnTo>
                    <a:close/>
                    <a:moveTo>
                      <a:pt x="944" y="1588"/>
                    </a:moveTo>
                    <a:lnTo>
                      <a:pt x="1738" y="1588"/>
                    </a:lnTo>
                    <a:lnTo>
                      <a:pt x="1754" y="1590"/>
                    </a:lnTo>
                    <a:lnTo>
                      <a:pt x="1768" y="1597"/>
                    </a:lnTo>
                    <a:lnTo>
                      <a:pt x="1778" y="1608"/>
                    </a:lnTo>
                    <a:lnTo>
                      <a:pt x="1786" y="1621"/>
                    </a:lnTo>
                    <a:lnTo>
                      <a:pt x="1788" y="1637"/>
                    </a:lnTo>
                    <a:lnTo>
                      <a:pt x="1788" y="1687"/>
                    </a:lnTo>
                    <a:lnTo>
                      <a:pt x="1786" y="1702"/>
                    </a:lnTo>
                    <a:lnTo>
                      <a:pt x="1778" y="1716"/>
                    </a:lnTo>
                    <a:lnTo>
                      <a:pt x="1768" y="1727"/>
                    </a:lnTo>
                    <a:lnTo>
                      <a:pt x="1754" y="1734"/>
                    </a:lnTo>
                    <a:lnTo>
                      <a:pt x="1738" y="1736"/>
                    </a:lnTo>
                    <a:lnTo>
                      <a:pt x="944" y="1736"/>
                    </a:lnTo>
                    <a:lnTo>
                      <a:pt x="928" y="1734"/>
                    </a:lnTo>
                    <a:lnTo>
                      <a:pt x="914" y="1727"/>
                    </a:lnTo>
                    <a:lnTo>
                      <a:pt x="904" y="1716"/>
                    </a:lnTo>
                    <a:lnTo>
                      <a:pt x="896" y="1702"/>
                    </a:lnTo>
                    <a:lnTo>
                      <a:pt x="894" y="1687"/>
                    </a:lnTo>
                    <a:lnTo>
                      <a:pt x="894" y="1637"/>
                    </a:lnTo>
                    <a:lnTo>
                      <a:pt x="896" y="1621"/>
                    </a:lnTo>
                    <a:lnTo>
                      <a:pt x="904" y="1608"/>
                    </a:lnTo>
                    <a:lnTo>
                      <a:pt x="914" y="1597"/>
                    </a:lnTo>
                    <a:lnTo>
                      <a:pt x="928" y="1590"/>
                    </a:lnTo>
                    <a:lnTo>
                      <a:pt x="944" y="1588"/>
                    </a:lnTo>
                    <a:close/>
                    <a:moveTo>
                      <a:pt x="769" y="1472"/>
                    </a:moveTo>
                    <a:lnTo>
                      <a:pt x="783" y="1475"/>
                    </a:lnTo>
                    <a:lnTo>
                      <a:pt x="795" y="1483"/>
                    </a:lnTo>
                    <a:lnTo>
                      <a:pt x="805" y="1494"/>
                    </a:lnTo>
                    <a:lnTo>
                      <a:pt x="810" y="1508"/>
                    </a:lnTo>
                    <a:lnTo>
                      <a:pt x="810" y="1521"/>
                    </a:lnTo>
                    <a:lnTo>
                      <a:pt x="807" y="1535"/>
                    </a:lnTo>
                    <a:lnTo>
                      <a:pt x="800" y="1548"/>
                    </a:lnTo>
                    <a:lnTo>
                      <a:pt x="616" y="1753"/>
                    </a:lnTo>
                    <a:lnTo>
                      <a:pt x="606" y="1761"/>
                    </a:lnTo>
                    <a:lnTo>
                      <a:pt x="594" y="1767"/>
                    </a:lnTo>
                    <a:lnTo>
                      <a:pt x="581" y="1769"/>
                    </a:lnTo>
                    <a:lnTo>
                      <a:pt x="567" y="1765"/>
                    </a:lnTo>
                    <a:lnTo>
                      <a:pt x="553" y="1758"/>
                    </a:lnTo>
                    <a:lnTo>
                      <a:pt x="439" y="1667"/>
                    </a:lnTo>
                    <a:lnTo>
                      <a:pt x="430" y="1656"/>
                    </a:lnTo>
                    <a:lnTo>
                      <a:pt x="423" y="1643"/>
                    </a:lnTo>
                    <a:lnTo>
                      <a:pt x="422" y="1630"/>
                    </a:lnTo>
                    <a:lnTo>
                      <a:pt x="425" y="1615"/>
                    </a:lnTo>
                    <a:lnTo>
                      <a:pt x="432" y="1602"/>
                    </a:lnTo>
                    <a:lnTo>
                      <a:pt x="442" y="1593"/>
                    </a:lnTo>
                    <a:lnTo>
                      <a:pt x="456" y="1588"/>
                    </a:lnTo>
                    <a:lnTo>
                      <a:pt x="470" y="1586"/>
                    </a:lnTo>
                    <a:lnTo>
                      <a:pt x="484" y="1589"/>
                    </a:lnTo>
                    <a:lnTo>
                      <a:pt x="496" y="1596"/>
                    </a:lnTo>
                    <a:lnTo>
                      <a:pt x="576" y="1660"/>
                    </a:lnTo>
                    <a:lnTo>
                      <a:pt x="731" y="1487"/>
                    </a:lnTo>
                    <a:lnTo>
                      <a:pt x="742" y="1477"/>
                    </a:lnTo>
                    <a:lnTo>
                      <a:pt x="755" y="1473"/>
                    </a:lnTo>
                    <a:lnTo>
                      <a:pt x="769" y="1472"/>
                    </a:lnTo>
                    <a:close/>
                    <a:moveTo>
                      <a:pt x="944" y="1140"/>
                    </a:moveTo>
                    <a:lnTo>
                      <a:pt x="1738" y="1140"/>
                    </a:lnTo>
                    <a:lnTo>
                      <a:pt x="1754" y="1144"/>
                    </a:lnTo>
                    <a:lnTo>
                      <a:pt x="1768" y="1150"/>
                    </a:lnTo>
                    <a:lnTo>
                      <a:pt x="1778" y="1162"/>
                    </a:lnTo>
                    <a:lnTo>
                      <a:pt x="1786" y="1175"/>
                    </a:lnTo>
                    <a:lnTo>
                      <a:pt x="1788" y="1190"/>
                    </a:lnTo>
                    <a:lnTo>
                      <a:pt x="1788" y="1240"/>
                    </a:lnTo>
                    <a:lnTo>
                      <a:pt x="1786" y="1255"/>
                    </a:lnTo>
                    <a:lnTo>
                      <a:pt x="1778" y="1269"/>
                    </a:lnTo>
                    <a:lnTo>
                      <a:pt x="1768" y="1280"/>
                    </a:lnTo>
                    <a:lnTo>
                      <a:pt x="1754" y="1287"/>
                    </a:lnTo>
                    <a:lnTo>
                      <a:pt x="1738" y="1290"/>
                    </a:lnTo>
                    <a:lnTo>
                      <a:pt x="944" y="1290"/>
                    </a:lnTo>
                    <a:lnTo>
                      <a:pt x="928" y="1287"/>
                    </a:lnTo>
                    <a:lnTo>
                      <a:pt x="914" y="1280"/>
                    </a:lnTo>
                    <a:lnTo>
                      <a:pt x="904" y="1269"/>
                    </a:lnTo>
                    <a:lnTo>
                      <a:pt x="896" y="1255"/>
                    </a:lnTo>
                    <a:lnTo>
                      <a:pt x="894" y="1240"/>
                    </a:lnTo>
                    <a:lnTo>
                      <a:pt x="894" y="1190"/>
                    </a:lnTo>
                    <a:lnTo>
                      <a:pt x="896" y="1175"/>
                    </a:lnTo>
                    <a:lnTo>
                      <a:pt x="904" y="1162"/>
                    </a:lnTo>
                    <a:lnTo>
                      <a:pt x="914" y="1150"/>
                    </a:lnTo>
                    <a:lnTo>
                      <a:pt x="928" y="1144"/>
                    </a:lnTo>
                    <a:lnTo>
                      <a:pt x="944" y="1140"/>
                    </a:lnTo>
                    <a:close/>
                    <a:moveTo>
                      <a:pt x="769" y="1030"/>
                    </a:moveTo>
                    <a:lnTo>
                      <a:pt x="783" y="1034"/>
                    </a:lnTo>
                    <a:lnTo>
                      <a:pt x="795" y="1042"/>
                    </a:lnTo>
                    <a:lnTo>
                      <a:pt x="805" y="1053"/>
                    </a:lnTo>
                    <a:lnTo>
                      <a:pt x="810" y="1066"/>
                    </a:lnTo>
                    <a:lnTo>
                      <a:pt x="810" y="1081"/>
                    </a:lnTo>
                    <a:lnTo>
                      <a:pt x="807" y="1094"/>
                    </a:lnTo>
                    <a:lnTo>
                      <a:pt x="800" y="1106"/>
                    </a:lnTo>
                    <a:lnTo>
                      <a:pt x="616" y="1312"/>
                    </a:lnTo>
                    <a:lnTo>
                      <a:pt x="606" y="1320"/>
                    </a:lnTo>
                    <a:lnTo>
                      <a:pt x="594" y="1326"/>
                    </a:lnTo>
                    <a:lnTo>
                      <a:pt x="581" y="1327"/>
                    </a:lnTo>
                    <a:lnTo>
                      <a:pt x="567" y="1325"/>
                    </a:lnTo>
                    <a:lnTo>
                      <a:pt x="553" y="1317"/>
                    </a:lnTo>
                    <a:lnTo>
                      <a:pt x="439" y="1226"/>
                    </a:lnTo>
                    <a:lnTo>
                      <a:pt x="430" y="1215"/>
                    </a:lnTo>
                    <a:lnTo>
                      <a:pt x="423" y="1202"/>
                    </a:lnTo>
                    <a:lnTo>
                      <a:pt x="422" y="1188"/>
                    </a:lnTo>
                    <a:lnTo>
                      <a:pt x="425" y="1174"/>
                    </a:lnTo>
                    <a:lnTo>
                      <a:pt x="432" y="1162"/>
                    </a:lnTo>
                    <a:lnTo>
                      <a:pt x="442" y="1152"/>
                    </a:lnTo>
                    <a:lnTo>
                      <a:pt x="456" y="1146"/>
                    </a:lnTo>
                    <a:lnTo>
                      <a:pt x="470" y="1145"/>
                    </a:lnTo>
                    <a:lnTo>
                      <a:pt x="484" y="1147"/>
                    </a:lnTo>
                    <a:lnTo>
                      <a:pt x="496" y="1154"/>
                    </a:lnTo>
                    <a:lnTo>
                      <a:pt x="576" y="1218"/>
                    </a:lnTo>
                    <a:lnTo>
                      <a:pt x="731" y="1046"/>
                    </a:lnTo>
                    <a:lnTo>
                      <a:pt x="742" y="1036"/>
                    </a:lnTo>
                    <a:lnTo>
                      <a:pt x="755" y="1031"/>
                    </a:lnTo>
                    <a:lnTo>
                      <a:pt x="769" y="1030"/>
                    </a:lnTo>
                    <a:close/>
                    <a:moveTo>
                      <a:pt x="150" y="347"/>
                    </a:moveTo>
                    <a:lnTo>
                      <a:pt x="552" y="347"/>
                    </a:lnTo>
                    <a:lnTo>
                      <a:pt x="548" y="372"/>
                    </a:lnTo>
                    <a:lnTo>
                      <a:pt x="547" y="399"/>
                    </a:lnTo>
                    <a:lnTo>
                      <a:pt x="550" y="439"/>
                    </a:lnTo>
                    <a:lnTo>
                      <a:pt x="559" y="477"/>
                    </a:lnTo>
                    <a:lnTo>
                      <a:pt x="574" y="511"/>
                    </a:lnTo>
                    <a:lnTo>
                      <a:pt x="594" y="544"/>
                    </a:lnTo>
                    <a:lnTo>
                      <a:pt x="618" y="572"/>
                    </a:lnTo>
                    <a:lnTo>
                      <a:pt x="648" y="598"/>
                    </a:lnTo>
                    <a:lnTo>
                      <a:pt x="681" y="618"/>
                    </a:lnTo>
                    <a:lnTo>
                      <a:pt x="715" y="632"/>
                    </a:lnTo>
                    <a:lnTo>
                      <a:pt x="753" y="642"/>
                    </a:lnTo>
                    <a:lnTo>
                      <a:pt x="793" y="645"/>
                    </a:lnTo>
                    <a:lnTo>
                      <a:pt x="1442" y="645"/>
                    </a:lnTo>
                    <a:lnTo>
                      <a:pt x="1482" y="642"/>
                    </a:lnTo>
                    <a:lnTo>
                      <a:pt x="1520" y="632"/>
                    </a:lnTo>
                    <a:lnTo>
                      <a:pt x="1555" y="618"/>
                    </a:lnTo>
                    <a:lnTo>
                      <a:pt x="1588" y="597"/>
                    </a:lnTo>
                    <a:lnTo>
                      <a:pt x="1616" y="572"/>
                    </a:lnTo>
                    <a:lnTo>
                      <a:pt x="1641" y="543"/>
                    </a:lnTo>
                    <a:lnTo>
                      <a:pt x="1661" y="510"/>
                    </a:lnTo>
                    <a:lnTo>
                      <a:pt x="1676" y="475"/>
                    </a:lnTo>
                    <a:lnTo>
                      <a:pt x="1686" y="436"/>
                    </a:lnTo>
                    <a:lnTo>
                      <a:pt x="1689" y="396"/>
                    </a:lnTo>
                    <a:lnTo>
                      <a:pt x="1688" y="371"/>
                    </a:lnTo>
                    <a:lnTo>
                      <a:pt x="1683" y="347"/>
                    </a:lnTo>
                    <a:lnTo>
                      <a:pt x="1987" y="347"/>
                    </a:lnTo>
                    <a:lnTo>
                      <a:pt x="2029" y="349"/>
                    </a:lnTo>
                    <a:lnTo>
                      <a:pt x="2067" y="356"/>
                    </a:lnTo>
                    <a:lnTo>
                      <a:pt x="2101" y="366"/>
                    </a:lnTo>
                    <a:lnTo>
                      <a:pt x="2132" y="379"/>
                    </a:lnTo>
                    <a:lnTo>
                      <a:pt x="2159" y="396"/>
                    </a:lnTo>
                    <a:lnTo>
                      <a:pt x="2182" y="416"/>
                    </a:lnTo>
                    <a:lnTo>
                      <a:pt x="2201" y="438"/>
                    </a:lnTo>
                    <a:lnTo>
                      <a:pt x="2215" y="462"/>
                    </a:lnTo>
                    <a:lnTo>
                      <a:pt x="2226" y="488"/>
                    </a:lnTo>
                    <a:lnTo>
                      <a:pt x="2233" y="517"/>
                    </a:lnTo>
                    <a:lnTo>
                      <a:pt x="2235" y="546"/>
                    </a:lnTo>
                    <a:lnTo>
                      <a:pt x="2235" y="2036"/>
                    </a:lnTo>
                    <a:lnTo>
                      <a:pt x="2210" y="2035"/>
                    </a:lnTo>
                    <a:lnTo>
                      <a:pt x="2186" y="2034"/>
                    </a:lnTo>
                    <a:lnTo>
                      <a:pt x="2118" y="2037"/>
                    </a:lnTo>
                    <a:lnTo>
                      <a:pt x="2051" y="2045"/>
                    </a:lnTo>
                    <a:lnTo>
                      <a:pt x="1987" y="2060"/>
                    </a:lnTo>
                    <a:lnTo>
                      <a:pt x="1987" y="893"/>
                    </a:lnTo>
                    <a:lnTo>
                      <a:pt x="249" y="893"/>
                    </a:lnTo>
                    <a:lnTo>
                      <a:pt x="249" y="2876"/>
                    </a:lnTo>
                    <a:lnTo>
                      <a:pt x="1394" y="2876"/>
                    </a:lnTo>
                    <a:lnTo>
                      <a:pt x="1400" y="2942"/>
                    </a:lnTo>
                    <a:lnTo>
                      <a:pt x="1412" y="3005"/>
                    </a:lnTo>
                    <a:lnTo>
                      <a:pt x="1429" y="3066"/>
                    </a:lnTo>
                    <a:lnTo>
                      <a:pt x="1450" y="3125"/>
                    </a:lnTo>
                    <a:lnTo>
                      <a:pt x="199" y="3125"/>
                    </a:lnTo>
                    <a:lnTo>
                      <a:pt x="163" y="3122"/>
                    </a:lnTo>
                    <a:lnTo>
                      <a:pt x="130" y="3112"/>
                    </a:lnTo>
                    <a:lnTo>
                      <a:pt x="99" y="3097"/>
                    </a:lnTo>
                    <a:lnTo>
                      <a:pt x="71" y="3079"/>
                    </a:lnTo>
                    <a:lnTo>
                      <a:pt x="47" y="3054"/>
                    </a:lnTo>
                    <a:lnTo>
                      <a:pt x="27" y="3027"/>
                    </a:lnTo>
                    <a:lnTo>
                      <a:pt x="13" y="2995"/>
                    </a:lnTo>
                    <a:lnTo>
                      <a:pt x="3" y="2962"/>
                    </a:lnTo>
                    <a:lnTo>
                      <a:pt x="0" y="2926"/>
                    </a:lnTo>
                    <a:lnTo>
                      <a:pt x="0" y="546"/>
                    </a:lnTo>
                    <a:lnTo>
                      <a:pt x="3" y="513"/>
                    </a:lnTo>
                    <a:lnTo>
                      <a:pt x="9" y="483"/>
                    </a:lnTo>
                    <a:lnTo>
                      <a:pt x="21" y="455"/>
                    </a:lnTo>
                    <a:lnTo>
                      <a:pt x="36" y="428"/>
                    </a:lnTo>
                    <a:lnTo>
                      <a:pt x="53" y="405"/>
                    </a:lnTo>
                    <a:lnTo>
                      <a:pt x="71" y="385"/>
                    </a:lnTo>
                    <a:lnTo>
                      <a:pt x="91" y="369"/>
                    </a:lnTo>
                    <a:lnTo>
                      <a:pt x="111" y="358"/>
                    </a:lnTo>
                    <a:lnTo>
                      <a:pt x="131" y="349"/>
                    </a:lnTo>
                    <a:lnTo>
                      <a:pt x="150" y="347"/>
                    </a:lnTo>
                    <a:close/>
                    <a:moveTo>
                      <a:pt x="1118" y="99"/>
                    </a:moveTo>
                    <a:lnTo>
                      <a:pt x="1098" y="102"/>
                    </a:lnTo>
                    <a:lnTo>
                      <a:pt x="1080" y="109"/>
                    </a:lnTo>
                    <a:lnTo>
                      <a:pt x="1065" y="121"/>
                    </a:lnTo>
                    <a:lnTo>
                      <a:pt x="1053" y="136"/>
                    </a:lnTo>
                    <a:lnTo>
                      <a:pt x="1046" y="154"/>
                    </a:lnTo>
                    <a:lnTo>
                      <a:pt x="1043" y="174"/>
                    </a:lnTo>
                    <a:lnTo>
                      <a:pt x="1046" y="194"/>
                    </a:lnTo>
                    <a:lnTo>
                      <a:pt x="1053" y="211"/>
                    </a:lnTo>
                    <a:lnTo>
                      <a:pt x="1065" y="226"/>
                    </a:lnTo>
                    <a:lnTo>
                      <a:pt x="1080" y="238"/>
                    </a:lnTo>
                    <a:lnTo>
                      <a:pt x="1098" y="245"/>
                    </a:lnTo>
                    <a:lnTo>
                      <a:pt x="1118" y="248"/>
                    </a:lnTo>
                    <a:lnTo>
                      <a:pt x="1138" y="245"/>
                    </a:lnTo>
                    <a:lnTo>
                      <a:pt x="1156" y="238"/>
                    </a:lnTo>
                    <a:lnTo>
                      <a:pt x="1170" y="226"/>
                    </a:lnTo>
                    <a:lnTo>
                      <a:pt x="1182" y="211"/>
                    </a:lnTo>
                    <a:lnTo>
                      <a:pt x="1189" y="194"/>
                    </a:lnTo>
                    <a:lnTo>
                      <a:pt x="1193" y="174"/>
                    </a:lnTo>
                    <a:lnTo>
                      <a:pt x="1189" y="154"/>
                    </a:lnTo>
                    <a:lnTo>
                      <a:pt x="1182" y="136"/>
                    </a:lnTo>
                    <a:lnTo>
                      <a:pt x="1170" y="121"/>
                    </a:lnTo>
                    <a:lnTo>
                      <a:pt x="1156" y="109"/>
                    </a:lnTo>
                    <a:lnTo>
                      <a:pt x="1138" y="102"/>
                    </a:lnTo>
                    <a:lnTo>
                      <a:pt x="1118" y="99"/>
                    </a:lnTo>
                    <a:close/>
                    <a:moveTo>
                      <a:pt x="1116" y="0"/>
                    </a:moveTo>
                    <a:lnTo>
                      <a:pt x="1120" y="0"/>
                    </a:lnTo>
                    <a:lnTo>
                      <a:pt x="1150" y="3"/>
                    </a:lnTo>
                    <a:lnTo>
                      <a:pt x="1180" y="11"/>
                    </a:lnTo>
                    <a:lnTo>
                      <a:pt x="1206" y="23"/>
                    </a:lnTo>
                    <a:lnTo>
                      <a:pt x="1230" y="40"/>
                    </a:lnTo>
                    <a:lnTo>
                      <a:pt x="1252" y="61"/>
                    </a:lnTo>
                    <a:lnTo>
                      <a:pt x="1268" y="85"/>
                    </a:lnTo>
                    <a:lnTo>
                      <a:pt x="1281" y="112"/>
                    </a:lnTo>
                    <a:lnTo>
                      <a:pt x="1288" y="141"/>
                    </a:lnTo>
                    <a:lnTo>
                      <a:pt x="1292" y="171"/>
                    </a:lnTo>
                    <a:lnTo>
                      <a:pt x="1292" y="174"/>
                    </a:lnTo>
                    <a:lnTo>
                      <a:pt x="1294" y="194"/>
                    </a:lnTo>
                    <a:lnTo>
                      <a:pt x="1302" y="211"/>
                    </a:lnTo>
                    <a:lnTo>
                      <a:pt x="1314" y="226"/>
                    </a:lnTo>
                    <a:lnTo>
                      <a:pt x="1328" y="238"/>
                    </a:lnTo>
                    <a:lnTo>
                      <a:pt x="1345" y="245"/>
                    </a:lnTo>
                    <a:lnTo>
                      <a:pt x="1365" y="248"/>
                    </a:lnTo>
                    <a:lnTo>
                      <a:pt x="1442" y="248"/>
                    </a:lnTo>
                    <a:lnTo>
                      <a:pt x="1472" y="251"/>
                    </a:lnTo>
                    <a:lnTo>
                      <a:pt x="1499" y="260"/>
                    </a:lnTo>
                    <a:lnTo>
                      <a:pt x="1524" y="274"/>
                    </a:lnTo>
                    <a:lnTo>
                      <a:pt x="1547" y="291"/>
                    </a:lnTo>
                    <a:lnTo>
                      <a:pt x="1564" y="312"/>
                    </a:lnTo>
                    <a:lnTo>
                      <a:pt x="1578" y="338"/>
                    </a:lnTo>
                    <a:lnTo>
                      <a:pt x="1587" y="366"/>
                    </a:lnTo>
                    <a:lnTo>
                      <a:pt x="1590" y="396"/>
                    </a:lnTo>
                    <a:lnTo>
                      <a:pt x="1590" y="399"/>
                    </a:lnTo>
                    <a:lnTo>
                      <a:pt x="1587" y="428"/>
                    </a:lnTo>
                    <a:lnTo>
                      <a:pt x="1578" y="456"/>
                    </a:lnTo>
                    <a:lnTo>
                      <a:pt x="1564" y="481"/>
                    </a:lnTo>
                    <a:lnTo>
                      <a:pt x="1547" y="503"/>
                    </a:lnTo>
                    <a:lnTo>
                      <a:pt x="1524" y="521"/>
                    </a:lnTo>
                    <a:lnTo>
                      <a:pt x="1499" y="534"/>
                    </a:lnTo>
                    <a:lnTo>
                      <a:pt x="1472" y="543"/>
                    </a:lnTo>
                    <a:lnTo>
                      <a:pt x="1442" y="546"/>
                    </a:lnTo>
                    <a:lnTo>
                      <a:pt x="793" y="546"/>
                    </a:lnTo>
                    <a:lnTo>
                      <a:pt x="764" y="543"/>
                    </a:lnTo>
                    <a:lnTo>
                      <a:pt x="736" y="534"/>
                    </a:lnTo>
                    <a:lnTo>
                      <a:pt x="711" y="521"/>
                    </a:lnTo>
                    <a:lnTo>
                      <a:pt x="689" y="503"/>
                    </a:lnTo>
                    <a:lnTo>
                      <a:pt x="671" y="481"/>
                    </a:lnTo>
                    <a:lnTo>
                      <a:pt x="657" y="456"/>
                    </a:lnTo>
                    <a:lnTo>
                      <a:pt x="649" y="428"/>
                    </a:lnTo>
                    <a:lnTo>
                      <a:pt x="646" y="399"/>
                    </a:lnTo>
                    <a:lnTo>
                      <a:pt x="646" y="396"/>
                    </a:lnTo>
                    <a:lnTo>
                      <a:pt x="649" y="366"/>
                    </a:lnTo>
                    <a:lnTo>
                      <a:pt x="657" y="338"/>
                    </a:lnTo>
                    <a:lnTo>
                      <a:pt x="671" y="312"/>
                    </a:lnTo>
                    <a:lnTo>
                      <a:pt x="689" y="291"/>
                    </a:lnTo>
                    <a:lnTo>
                      <a:pt x="711" y="274"/>
                    </a:lnTo>
                    <a:lnTo>
                      <a:pt x="736" y="260"/>
                    </a:lnTo>
                    <a:lnTo>
                      <a:pt x="764" y="251"/>
                    </a:lnTo>
                    <a:lnTo>
                      <a:pt x="793" y="248"/>
                    </a:lnTo>
                    <a:lnTo>
                      <a:pt x="870" y="248"/>
                    </a:lnTo>
                    <a:lnTo>
                      <a:pt x="889" y="245"/>
                    </a:lnTo>
                    <a:lnTo>
                      <a:pt x="907" y="238"/>
                    </a:lnTo>
                    <a:lnTo>
                      <a:pt x="922" y="226"/>
                    </a:lnTo>
                    <a:lnTo>
                      <a:pt x="933" y="211"/>
                    </a:lnTo>
                    <a:lnTo>
                      <a:pt x="941" y="194"/>
                    </a:lnTo>
                    <a:lnTo>
                      <a:pt x="944" y="174"/>
                    </a:lnTo>
                    <a:lnTo>
                      <a:pt x="944" y="171"/>
                    </a:lnTo>
                    <a:lnTo>
                      <a:pt x="947" y="141"/>
                    </a:lnTo>
                    <a:lnTo>
                      <a:pt x="954" y="112"/>
                    </a:lnTo>
                    <a:lnTo>
                      <a:pt x="967" y="85"/>
                    </a:lnTo>
                    <a:lnTo>
                      <a:pt x="984" y="61"/>
                    </a:lnTo>
                    <a:lnTo>
                      <a:pt x="1005" y="40"/>
                    </a:lnTo>
                    <a:lnTo>
                      <a:pt x="1029" y="23"/>
                    </a:lnTo>
                    <a:lnTo>
                      <a:pt x="1056" y="11"/>
                    </a:lnTo>
                    <a:lnTo>
                      <a:pt x="1085" y="3"/>
                    </a:lnTo>
                    <a:lnTo>
                      <a:pt x="1116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62" name="직사각형 61"/>
            <p:cNvSpPr/>
            <p:nvPr/>
          </p:nvSpPr>
          <p:spPr>
            <a:xfrm>
              <a:off x="1422959" y="5370547"/>
              <a:ext cx="1031051" cy="55015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pc="-150" dirty="0">
                  <a:latin typeface="+mn-ea"/>
                </a:rPr>
                <a:t>교육안내</a:t>
              </a:r>
              <a:endParaRPr lang="en-US" altLang="ko-KR" spc="-150" dirty="0">
                <a:latin typeface="+mn-ea"/>
              </a:endParaRPr>
            </a:p>
          </p:txBody>
        </p:sp>
      </p:grpSp>
      <p:sp>
        <p:nvSpPr>
          <p:cNvPr id="452" name="직사각형 451"/>
          <p:cNvSpPr/>
          <p:nvPr/>
        </p:nvSpPr>
        <p:spPr>
          <a:xfrm>
            <a:off x="2445723" y="4022694"/>
            <a:ext cx="4406976" cy="170816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3F3C57"/>
                </a:solidFill>
                <a:latin typeface="+mn-ea"/>
              </a:rPr>
              <a:t>교육 일정</a:t>
            </a:r>
            <a:r>
              <a:rPr lang="ko-KR" altLang="en-US" sz="1400" b="1" dirty="0">
                <a:solidFill>
                  <a:srgbClr val="3F3C57"/>
                </a:solidFill>
                <a:latin typeface="+mn-ea"/>
              </a:rPr>
              <a:t>┃ </a:t>
            </a:r>
            <a:r>
              <a:rPr lang="en-US" altLang="ko-KR" sz="1400" dirty="0">
                <a:solidFill>
                  <a:srgbClr val="3F3C57"/>
                </a:solidFill>
                <a:latin typeface="+mn-ea"/>
              </a:rPr>
              <a:t>4</a:t>
            </a:r>
            <a:r>
              <a:rPr lang="ko-KR" altLang="en-US" sz="1400" dirty="0">
                <a:solidFill>
                  <a:srgbClr val="3F3C57"/>
                </a:solidFill>
                <a:latin typeface="+mn-ea"/>
              </a:rPr>
              <a:t>월 </a:t>
            </a:r>
            <a:r>
              <a:rPr lang="en-US" altLang="ko-KR" sz="1400" dirty="0">
                <a:solidFill>
                  <a:srgbClr val="3F3C57"/>
                </a:solidFill>
                <a:latin typeface="+mn-ea"/>
              </a:rPr>
              <a:t>25, 26, 5</a:t>
            </a:r>
            <a:r>
              <a:rPr lang="ko-KR" altLang="en-US" sz="1400" dirty="0">
                <a:solidFill>
                  <a:srgbClr val="3F3C57"/>
                </a:solidFill>
                <a:latin typeface="+mn-ea"/>
              </a:rPr>
              <a:t>월</a:t>
            </a:r>
            <a:r>
              <a:rPr lang="en-US" altLang="ko-KR" sz="1400" dirty="0">
                <a:solidFill>
                  <a:srgbClr val="3F3C57"/>
                </a:solidFill>
                <a:latin typeface="+mn-ea"/>
              </a:rPr>
              <a:t> 23, 24, 30,31</a:t>
            </a:r>
            <a:r>
              <a:rPr lang="ko-KR" altLang="en-US" sz="1400" dirty="0">
                <a:solidFill>
                  <a:srgbClr val="3F3C57"/>
                </a:solidFill>
                <a:latin typeface="+mn-ea"/>
              </a:rPr>
              <a:t>일중 </a:t>
            </a:r>
            <a:r>
              <a:rPr lang="en-US" altLang="ko-KR" sz="1400" dirty="0">
                <a:solidFill>
                  <a:srgbClr val="3F3C57"/>
                </a:solidFill>
                <a:latin typeface="+mn-ea"/>
              </a:rPr>
              <a:t>4</a:t>
            </a:r>
            <a:r>
              <a:rPr lang="ko-KR" altLang="en-US" sz="1400" dirty="0">
                <a:solidFill>
                  <a:srgbClr val="3F3C57"/>
                </a:solidFill>
                <a:latin typeface="+mn-ea"/>
              </a:rPr>
              <a:t>일</a:t>
            </a:r>
            <a:endParaRPr lang="en-US" altLang="ko-KR" sz="1400" dirty="0">
              <a:solidFill>
                <a:srgbClr val="3F3C57"/>
              </a:solidFill>
              <a:latin typeface="+mn-ea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3F3C57"/>
                </a:solidFill>
                <a:latin typeface="+mn-ea"/>
              </a:rPr>
              <a:t>교육시간 </a:t>
            </a:r>
            <a:r>
              <a:rPr lang="ko-KR" altLang="en-US" sz="1400" b="1" dirty="0">
                <a:solidFill>
                  <a:srgbClr val="3F3C57"/>
                </a:solidFill>
                <a:latin typeface="+mn-ea"/>
              </a:rPr>
              <a:t>┃ </a:t>
            </a:r>
            <a:r>
              <a:rPr lang="en-US" altLang="ko-KR" sz="1400" dirty="0">
                <a:solidFill>
                  <a:srgbClr val="3F3C57"/>
                </a:solidFill>
                <a:latin typeface="+mn-ea"/>
              </a:rPr>
              <a:t>4DAYS, 24HR</a:t>
            </a:r>
            <a:r>
              <a:rPr lang="ko-KR" altLang="en-US" sz="1400" dirty="0">
                <a:solidFill>
                  <a:srgbClr val="3F3C57"/>
                </a:solidFill>
                <a:latin typeface="+mn-ea"/>
              </a:rPr>
              <a:t>  </a:t>
            </a:r>
            <a:endParaRPr lang="en-US" altLang="ko-KR" sz="1400" dirty="0">
              <a:solidFill>
                <a:srgbClr val="3F3C57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rgbClr val="3F3C57"/>
                </a:solidFill>
                <a:latin typeface="+mn-ea"/>
              </a:rPr>
              <a:t>                   </a:t>
            </a:r>
            <a:r>
              <a:rPr lang="en-US" altLang="ko-KR" sz="1400" dirty="0">
                <a:latin typeface="+mn-ea"/>
              </a:rPr>
              <a:t>10:00 ~ 17:00 (6</a:t>
            </a:r>
            <a:r>
              <a:rPr lang="ko-KR" altLang="ko-KR" sz="1400" dirty="0">
                <a:latin typeface="+mn-ea"/>
              </a:rPr>
              <a:t>시간</a:t>
            </a:r>
            <a:r>
              <a:rPr lang="en-US" altLang="ko-KR" sz="1400" dirty="0">
                <a:latin typeface="+mn-ea"/>
              </a:rPr>
              <a:t>/1</a:t>
            </a:r>
            <a:r>
              <a:rPr lang="ko-KR" altLang="ko-KR" sz="1400" dirty="0">
                <a:latin typeface="+mn-ea"/>
              </a:rPr>
              <a:t>일</a:t>
            </a:r>
            <a:r>
              <a:rPr lang="en-US" altLang="ko-KR" sz="1400" dirty="0">
                <a:latin typeface="+mn-ea"/>
              </a:rPr>
              <a:t>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3F3C57"/>
                </a:solidFill>
                <a:latin typeface="+mn-ea"/>
              </a:rPr>
              <a:t>교육장소 </a:t>
            </a:r>
            <a:r>
              <a:rPr lang="ko-KR" altLang="en-US" sz="1400" b="1" dirty="0">
                <a:solidFill>
                  <a:srgbClr val="3F3C57"/>
                </a:solidFill>
                <a:latin typeface="+mn-ea"/>
              </a:rPr>
              <a:t>┃ </a:t>
            </a:r>
            <a:r>
              <a:rPr lang="ko-KR" altLang="en-US" sz="1400" dirty="0">
                <a:solidFill>
                  <a:srgbClr val="3F3C57"/>
                </a:solidFill>
                <a:latin typeface="+mn-ea"/>
              </a:rPr>
              <a:t>경기 용인시 </a:t>
            </a:r>
            <a:r>
              <a:rPr lang="ko-KR" altLang="en-US" sz="1400" dirty="0" err="1">
                <a:solidFill>
                  <a:srgbClr val="3F3C57"/>
                </a:solidFill>
                <a:latin typeface="+mn-ea"/>
              </a:rPr>
              <a:t>기흥구</a:t>
            </a:r>
            <a:r>
              <a:rPr lang="ko-KR" altLang="en-US" sz="1400" dirty="0">
                <a:solidFill>
                  <a:srgbClr val="3F3C57"/>
                </a:solidFill>
                <a:latin typeface="+mn-ea"/>
              </a:rPr>
              <a:t> </a:t>
            </a:r>
            <a:r>
              <a:rPr lang="ko-KR" altLang="en-US" sz="1400" dirty="0" err="1">
                <a:solidFill>
                  <a:srgbClr val="3F3C57"/>
                </a:solidFill>
                <a:latin typeface="+mn-ea"/>
              </a:rPr>
              <a:t>탑실로</a:t>
            </a:r>
            <a:r>
              <a:rPr lang="en-US" altLang="ko-KR" sz="1400" dirty="0">
                <a:solidFill>
                  <a:srgbClr val="3F3C57"/>
                </a:solidFill>
                <a:latin typeface="+mn-ea"/>
              </a:rPr>
              <a:t>152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rgbClr val="3F3C57"/>
                </a:solidFill>
                <a:latin typeface="+mn-ea"/>
              </a:rPr>
              <a:t>   </a:t>
            </a:r>
            <a:r>
              <a:rPr lang="ko-KR" altLang="en-US" sz="1400" dirty="0" err="1">
                <a:solidFill>
                  <a:srgbClr val="3F3C57"/>
                </a:solidFill>
                <a:latin typeface="+mn-ea"/>
              </a:rPr>
              <a:t>탑실마을</a:t>
            </a:r>
            <a:r>
              <a:rPr lang="ko-KR" altLang="en-US" sz="1400" dirty="0">
                <a:solidFill>
                  <a:srgbClr val="3F3C57"/>
                </a:solidFill>
                <a:latin typeface="+mn-ea"/>
              </a:rPr>
              <a:t> </a:t>
            </a:r>
            <a:r>
              <a:rPr lang="ko-KR" altLang="en-US" sz="1400" dirty="0" err="1">
                <a:solidFill>
                  <a:srgbClr val="3F3C57"/>
                </a:solidFill>
                <a:latin typeface="+mn-ea"/>
              </a:rPr>
              <a:t>대주피오레</a:t>
            </a:r>
            <a:r>
              <a:rPr lang="en-US" altLang="ko-KR" sz="1400" dirty="0">
                <a:solidFill>
                  <a:srgbClr val="3F3C57"/>
                </a:solidFill>
                <a:latin typeface="+mn-ea"/>
              </a:rPr>
              <a:t>2</a:t>
            </a:r>
            <a:r>
              <a:rPr lang="ko-KR" altLang="en-US" sz="1400" dirty="0">
                <a:solidFill>
                  <a:srgbClr val="3F3C57"/>
                </a:solidFill>
                <a:latin typeface="+mn-ea"/>
              </a:rPr>
              <a:t>단지 </a:t>
            </a:r>
            <a:r>
              <a:rPr lang="en-US" altLang="ko-KR" sz="1400" dirty="0">
                <a:solidFill>
                  <a:srgbClr val="3F3C57"/>
                </a:solidFill>
                <a:latin typeface="+mn-ea"/>
              </a:rPr>
              <a:t>206</a:t>
            </a:r>
            <a:r>
              <a:rPr lang="ko-KR" altLang="en-US" sz="1400" dirty="0">
                <a:solidFill>
                  <a:srgbClr val="3F3C57"/>
                </a:solidFill>
                <a:latin typeface="+mn-ea"/>
              </a:rPr>
              <a:t>동 </a:t>
            </a:r>
            <a:r>
              <a:rPr lang="en-US" altLang="ko-KR" sz="1400" dirty="0">
                <a:solidFill>
                  <a:srgbClr val="3F3C57"/>
                </a:solidFill>
                <a:latin typeface="+mn-ea"/>
              </a:rPr>
              <a:t>1902</a:t>
            </a:r>
            <a:r>
              <a:rPr lang="ko-KR" altLang="en-US" sz="1400" dirty="0">
                <a:solidFill>
                  <a:srgbClr val="3F3C57"/>
                </a:solidFill>
                <a:latin typeface="+mn-ea"/>
              </a:rPr>
              <a:t>호</a:t>
            </a:r>
            <a:endParaRPr lang="en-US" altLang="ko-KR" sz="1400" dirty="0">
              <a:solidFill>
                <a:srgbClr val="3F3C57"/>
              </a:solidFill>
              <a:latin typeface="+mn-ea"/>
            </a:endParaRPr>
          </a:p>
        </p:txBody>
      </p:sp>
      <p:grpSp>
        <p:nvGrpSpPr>
          <p:cNvPr id="18" name="그룹 17"/>
          <p:cNvGrpSpPr/>
          <p:nvPr/>
        </p:nvGrpSpPr>
        <p:grpSpPr>
          <a:xfrm>
            <a:off x="1047767" y="6509791"/>
            <a:ext cx="1031051" cy="983952"/>
            <a:chOff x="1604175" y="7711500"/>
            <a:chExt cx="1031051" cy="1065948"/>
          </a:xfrm>
        </p:grpSpPr>
        <p:grpSp>
          <p:nvGrpSpPr>
            <p:cNvPr id="37" name="그룹 36"/>
            <p:cNvGrpSpPr/>
            <p:nvPr/>
          </p:nvGrpSpPr>
          <p:grpSpPr>
            <a:xfrm>
              <a:off x="1856302" y="7711500"/>
              <a:ext cx="540000" cy="540000"/>
              <a:chOff x="6306975" y="2436553"/>
              <a:chExt cx="865635" cy="865635"/>
            </a:xfrm>
          </p:grpSpPr>
          <p:sp>
            <p:nvSpPr>
              <p:cNvPr id="38" name="타원 37"/>
              <p:cNvSpPr/>
              <p:nvPr/>
            </p:nvSpPr>
            <p:spPr>
              <a:xfrm>
                <a:off x="6306975" y="2436553"/>
                <a:ext cx="865635" cy="865635"/>
              </a:xfrm>
              <a:prstGeom prst="ellipse">
                <a:avLst/>
              </a:prstGeom>
              <a:solidFill>
                <a:srgbClr val="33304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grpSp>
            <p:nvGrpSpPr>
              <p:cNvPr id="39" name="Group 28"/>
              <p:cNvGrpSpPr>
                <a:grpSpLocks noChangeAspect="1"/>
              </p:cNvGrpSpPr>
              <p:nvPr/>
            </p:nvGrpSpPr>
            <p:grpSpPr bwMode="auto">
              <a:xfrm>
                <a:off x="6515561" y="2673124"/>
                <a:ext cx="448462" cy="392491"/>
                <a:chOff x="496" y="4251"/>
                <a:chExt cx="641" cy="561"/>
              </a:xfrm>
              <a:solidFill>
                <a:schemeClr val="bg1"/>
              </a:solidFill>
            </p:grpSpPr>
            <p:sp>
              <p:nvSpPr>
                <p:cNvPr id="40" name="Freeform 30"/>
                <p:cNvSpPr>
                  <a:spLocks/>
                </p:cNvSpPr>
                <p:nvPr/>
              </p:nvSpPr>
              <p:spPr bwMode="auto">
                <a:xfrm>
                  <a:off x="709" y="4720"/>
                  <a:ext cx="88" cy="92"/>
                </a:xfrm>
                <a:custGeom>
                  <a:avLst/>
                  <a:gdLst>
                    <a:gd name="T0" fmla="*/ 0 w 526"/>
                    <a:gd name="T1" fmla="*/ 0 h 553"/>
                    <a:gd name="T2" fmla="*/ 526 w 526"/>
                    <a:gd name="T3" fmla="*/ 250 h 553"/>
                    <a:gd name="T4" fmla="*/ 97 w 526"/>
                    <a:gd name="T5" fmla="*/ 542 h 553"/>
                    <a:gd name="T6" fmla="*/ 81 w 526"/>
                    <a:gd name="T7" fmla="*/ 549 h 553"/>
                    <a:gd name="T8" fmla="*/ 65 w 526"/>
                    <a:gd name="T9" fmla="*/ 553 h 553"/>
                    <a:gd name="T10" fmla="*/ 49 w 526"/>
                    <a:gd name="T11" fmla="*/ 552 h 553"/>
                    <a:gd name="T12" fmla="*/ 34 w 526"/>
                    <a:gd name="T13" fmla="*/ 546 h 553"/>
                    <a:gd name="T14" fmla="*/ 20 w 526"/>
                    <a:gd name="T15" fmla="*/ 535 h 553"/>
                    <a:gd name="T16" fmla="*/ 9 w 526"/>
                    <a:gd name="T17" fmla="*/ 522 h 553"/>
                    <a:gd name="T18" fmla="*/ 2 w 526"/>
                    <a:gd name="T19" fmla="*/ 507 h 553"/>
                    <a:gd name="T20" fmla="*/ 0 w 526"/>
                    <a:gd name="T21" fmla="*/ 490 h 553"/>
                    <a:gd name="T22" fmla="*/ 0 w 526"/>
                    <a:gd name="T23" fmla="*/ 0 h 5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526" h="553">
                      <a:moveTo>
                        <a:pt x="0" y="0"/>
                      </a:moveTo>
                      <a:lnTo>
                        <a:pt x="526" y="250"/>
                      </a:lnTo>
                      <a:lnTo>
                        <a:pt x="97" y="542"/>
                      </a:lnTo>
                      <a:lnTo>
                        <a:pt x="81" y="549"/>
                      </a:lnTo>
                      <a:lnTo>
                        <a:pt x="65" y="553"/>
                      </a:lnTo>
                      <a:lnTo>
                        <a:pt x="49" y="552"/>
                      </a:lnTo>
                      <a:lnTo>
                        <a:pt x="34" y="546"/>
                      </a:lnTo>
                      <a:lnTo>
                        <a:pt x="20" y="535"/>
                      </a:lnTo>
                      <a:lnTo>
                        <a:pt x="9" y="522"/>
                      </a:lnTo>
                      <a:lnTo>
                        <a:pt x="2" y="507"/>
                      </a:lnTo>
                      <a:lnTo>
                        <a:pt x="0" y="49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41" name="Freeform 31"/>
                <p:cNvSpPr>
                  <a:spLocks/>
                </p:cNvSpPr>
                <p:nvPr/>
              </p:nvSpPr>
              <p:spPr bwMode="auto">
                <a:xfrm>
                  <a:off x="496" y="4251"/>
                  <a:ext cx="641" cy="530"/>
                </a:xfrm>
                <a:custGeom>
                  <a:avLst/>
                  <a:gdLst>
                    <a:gd name="T0" fmla="*/ 3785 w 3847"/>
                    <a:gd name="T1" fmla="*/ 0 h 3180"/>
                    <a:gd name="T2" fmla="*/ 3800 w 3847"/>
                    <a:gd name="T3" fmla="*/ 2 h 3180"/>
                    <a:gd name="T4" fmla="*/ 3814 w 3847"/>
                    <a:gd name="T5" fmla="*/ 7 h 3180"/>
                    <a:gd name="T6" fmla="*/ 3827 w 3847"/>
                    <a:gd name="T7" fmla="*/ 16 h 3180"/>
                    <a:gd name="T8" fmla="*/ 3839 w 3847"/>
                    <a:gd name="T9" fmla="*/ 31 h 3180"/>
                    <a:gd name="T10" fmla="*/ 3846 w 3847"/>
                    <a:gd name="T11" fmla="*/ 49 h 3180"/>
                    <a:gd name="T12" fmla="*/ 3847 w 3847"/>
                    <a:gd name="T13" fmla="*/ 66 h 3180"/>
                    <a:gd name="T14" fmla="*/ 3842 w 3847"/>
                    <a:gd name="T15" fmla="*/ 85 h 3180"/>
                    <a:gd name="T16" fmla="*/ 2642 w 3847"/>
                    <a:gd name="T17" fmla="*/ 3110 h 3180"/>
                    <a:gd name="T18" fmla="*/ 2631 w 3847"/>
                    <a:gd name="T19" fmla="*/ 3130 h 3180"/>
                    <a:gd name="T20" fmla="*/ 2617 w 3847"/>
                    <a:gd name="T21" fmla="*/ 3147 h 3180"/>
                    <a:gd name="T22" fmla="*/ 2600 w 3847"/>
                    <a:gd name="T23" fmla="*/ 3161 h 3180"/>
                    <a:gd name="T24" fmla="*/ 2579 w 3847"/>
                    <a:gd name="T25" fmla="*/ 3172 h 3180"/>
                    <a:gd name="T26" fmla="*/ 2559 w 3847"/>
                    <a:gd name="T27" fmla="*/ 3178 h 3180"/>
                    <a:gd name="T28" fmla="*/ 2539 w 3847"/>
                    <a:gd name="T29" fmla="*/ 3180 h 3180"/>
                    <a:gd name="T30" fmla="*/ 2514 w 3847"/>
                    <a:gd name="T31" fmla="*/ 3177 h 3180"/>
                    <a:gd name="T32" fmla="*/ 2491 w 3847"/>
                    <a:gd name="T33" fmla="*/ 3168 h 3180"/>
                    <a:gd name="T34" fmla="*/ 1278 w 3847"/>
                    <a:gd name="T35" fmla="*/ 2591 h 3180"/>
                    <a:gd name="T36" fmla="*/ 2984 w 3847"/>
                    <a:gd name="T37" fmla="*/ 878 h 3180"/>
                    <a:gd name="T38" fmla="*/ 1036 w 3847"/>
                    <a:gd name="T39" fmla="*/ 2477 h 3180"/>
                    <a:gd name="T40" fmla="*/ 63 w 3847"/>
                    <a:gd name="T41" fmla="*/ 2014 h 3180"/>
                    <a:gd name="T42" fmla="*/ 42 w 3847"/>
                    <a:gd name="T43" fmla="*/ 2000 h 3180"/>
                    <a:gd name="T44" fmla="*/ 24 w 3847"/>
                    <a:gd name="T45" fmla="*/ 1983 h 3180"/>
                    <a:gd name="T46" fmla="*/ 11 w 3847"/>
                    <a:gd name="T47" fmla="*/ 1963 h 3180"/>
                    <a:gd name="T48" fmla="*/ 3 w 3847"/>
                    <a:gd name="T49" fmla="*/ 1940 h 3180"/>
                    <a:gd name="T50" fmla="*/ 0 w 3847"/>
                    <a:gd name="T51" fmla="*/ 1915 h 3180"/>
                    <a:gd name="T52" fmla="*/ 2 w 3847"/>
                    <a:gd name="T53" fmla="*/ 1891 h 3180"/>
                    <a:gd name="T54" fmla="*/ 10 w 3847"/>
                    <a:gd name="T55" fmla="*/ 1867 h 3180"/>
                    <a:gd name="T56" fmla="*/ 23 w 3847"/>
                    <a:gd name="T57" fmla="*/ 1846 h 3180"/>
                    <a:gd name="T58" fmla="*/ 41 w 3847"/>
                    <a:gd name="T59" fmla="*/ 1829 h 3180"/>
                    <a:gd name="T60" fmla="*/ 62 w 3847"/>
                    <a:gd name="T61" fmla="*/ 1816 h 3180"/>
                    <a:gd name="T62" fmla="*/ 3757 w 3847"/>
                    <a:gd name="T63" fmla="*/ 5 h 3180"/>
                    <a:gd name="T64" fmla="*/ 3771 w 3847"/>
                    <a:gd name="T65" fmla="*/ 1 h 3180"/>
                    <a:gd name="T66" fmla="*/ 3785 w 3847"/>
                    <a:gd name="T67" fmla="*/ 0 h 31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</a:cxnLst>
                  <a:rect l="0" t="0" r="r" b="b"/>
                  <a:pathLst>
                    <a:path w="3847" h="3180">
                      <a:moveTo>
                        <a:pt x="3785" y="0"/>
                      </a:moveTo>
                      <a:lnTo>
                        <a:pt x="3800" y="2"/>
                      </a:lnTo>
                      <a:lnTo>
                        <a:pt x="3814" y="7"/>
                      </a:lnTo>
                      <a:lnTo>
                        <a:pt x="3827" y="16"/>
                      </a:lnTo>
                      <a:lnTo>
                        <a:pt x="3839" y="31"/>
                      </a:lnTo>
                      <a:lnTo>
                        <a:pt x="3846" y="49"/>
                      </a:lnTo>
                      <a:lnTo>
                        <a:pt x="3847" y="66"/>
                      </a:lnTo>
                      <a:lnTo>
                        <a:pt x="3842" y="85"/>
                      </a:lnTo>
                      <a:lnTo>
                        <a:pt x="2642" y="3110"/>
                      </a:lnTo>
                      <a:lnTo>
                        <a:pt x="2631" y="3130"/>
                      </a:lnTo>
                      <a:lnTo>
                        <a:pt x="2617" y="3147"/>
                      </a:lnTo>
                      <a:lnTo>
                        <a:pt x="2600" y="3161"/>
                      </a:lnTo>
                      <a:lnTo>
                        <a:pt x="2579" y="3172"/>
                      </a:lnTo>
                      <a:lnTo>
                        <a:pt x="2559" y="3178"/>
                      </a:lnTo>
                      <a:lnTo>
                        <a:pt x="2539" y="3180"/>
                      </a:lnTo>
                      <a:lnTo>
                        <a:pt x="2514" y="3177"/>
                      </a:lnTo>
                      <a:lnTo>
                        <a:pt x="2491" y="3168"/>
                      </a:lnTo>
                      <a:lnTo>
                        <a:pt x="1278" y="2591"/>
                      </a:lnTo>
                      <a:lnTo>
                        <a:pt x="2984" y="878"/>
                      </a:lnTo>
                      <a:lnTo>
                        <a:pt x="1036" y="2477"/>
                      </a:lnTo>
                      <a:lnTo>
                        <a:pt x="63" y="2014"/>
                      </a:lnTo>
                      <a:lnTo>
                        <a:pt x="42" y="2000"/>
                      </a:lnTo>
                      <a:lnTo>
                        <a:pt x="24" y="1983"/>
                      </a:lnTo>
                      <a:lnTo>
                        <a:pt x="11" y="1963"/>
                      </a:lnTo>
                      <a:lnTo>
                        <a:pt x="3" y="1940"/>
                      </a:lnTo>
                      <a:lnTo>
                        <a:pt x="0" y="1915"/>
                      </a:lnTo>
                      <a:lnTo>
                        <a:pt x="2" y="1891"/>
                      </a:lnTo>
                      <a:lnTo>
                        <a:pt x="10" y="1867"/>
                      </a:lnTo>
                      <a:lnTo>
                        <a:pt x="23" y="1846"/>
                      </a:lnTo>
                      <a:lnTo>
                        <a:pt x="41" y="1829"/>
                      </a:lnTo>
                      <a:lnTo>
                        <a:pt x="62" y="1816"/>
                      </a:lnTo>
                      <a:lnTo>
                        <a:pt x="3757" y="5"/>
                      </a:lnTo>
                      <a:lnTo>
                        <a:pt x="3771" y="1"/>
                      </a:lnTo>
                      <a:lnTo>
                        <a:pt x="3785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>
                    <a:solidFill>
                      <a:prstClr val="black"/>
                    </a:solidFill>
                  </a:endParaRPr>
                </a:p>
              </p:txBody>
            </p:sp>
          </p:grpSp>
        </p:grpSp>
        <p:sp>
          <p:nvSpPr>
            <p:cNvPr id="482" name="직사각형 481"/>
            <p:cNvSpPr/>
            <p:nvPr/>
          </p:nvSpPr>
          <p:spPr>
            <a:xfrm>
              <a:off x="1604175" y="8227298"/>
              <a:ext cx="1031051" cy="55015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pc="-150" dirty="0">
                  <a:latin typeface="+mn-ea"/>
                </a:rPr>
                <a:t>교육특전</a:t>
              </a:r>
              <a:endParaRPr lang="en-US" altLang="ko-KR" spc="-150" dirty="0">
                <a:latin typeface="+mn-ea"/>
              </a:endParaRPr>
            </a:p>
          </p:txBody>
        </p:sp>
      </p:grpSp>
      <p:cxnSp>
        <p:nvCxnSpPr>
          <p:cNvPr id="99" name="직선 연결선 98"/>
          <p:cNvCxnSpPr/>
          <p:nvPr/>
        </p:nvCxnSpPr>
        <p:spPr>
          <a:xfrm>
            <a:off x="2283850" y="6517349"/>
            <a:ext cx="0" cy="793099"/>
          </a:xfrm>
          <a:prstGeom prst="line">
            <a:avLst/>
          </a:prstGeom>
          <a:ln w="28575">
            <a:solidFill>
              <a:srgbClr val="5F4B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직사각형 99"/>
          <p:cNvSpPr/>
          <p:nvPr/>
        </p:nvSpPr>
        <p:spPr>
          <a:xfrm>
            <a:off x="2483167" y="6533953"/>
            <a:ext cx="3078087" cy="738664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3F3C57"/>
                </a:solidFill>
                <a:latin typeface="+mn-ea"/>
              </a:rPr>
              <a:t>이미지컨설팅 현장실습 </a:t>
            </a:r>
            <a:r>
              <a:rPr lang="en-US" altLang="ko-KR" sz="1400" dirty="0">
                <a:solidFill>
                  <a:srgbClr val="3F3C57"/>
                </a:solidFill>
                <a:latin typeface="+mn-ea"/>
              </a:rPr>
              <a:t>10</a:t>
            </a:r>
            <a:r>
              <a:rPr lang="ko-KR" altLang="en-US" sz="1400" dirty="0">
                <a:solidFill>
                  <a:srgbClr val="3F3C57"/>
                </a:solidFill>
                <a:latin typeface="+mn-ea"/>
              </a:rPr>
              <a:t>회 제공</a:t>
            </a:r>
            <a:endParaRPr lang="en-US" altLang="ko-KR" sz="1400" dirty="0">
              <a:solidFill>
                <a:srgbClr val="3F3C57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rgbClr val="3F3C57"/>
                </a:solidFill>
                <a:latin typeface="+mn-ea"/>
              </a:rPr>
              <a:t>   (feat. </a:t>
            </a:r>
            <a:r>
              <a:rPr lang="ko-KR" altLang="en-US" sz="1400" dirty="0">
                <a:solidFill>
                  <a:srgbClr val="3F3C57"/>
                </a:solidFill>
                <a:latin typeface="+mn-ea"/>
              </a:rPr>
              <a:t>조미경대표</a:t>
            </a:r>
            <a:r>
              <a:rPr lang="en-US" altLang="ko-KR" sz="1400" dirty="0">
                <a:solidFill>
                  <a:srgbClr val="3F3C57"/>
                </a:solidFill>
                <a:latin typeface="+mn-ea"/>
              </a:rPr>
              <a:t>)</a:t>
            </a:r>
          </a:p>
        </p:txBody>
      </p:sp>
      <p:pic>
        <p:nvPicPr>
          <p:cNvPr id="1026" name="Picture 2" descr="C:\Users\user\Downloads\CMK 로고 2018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5072" y="8064537"/>
            <a:ext cx="2088983" cy="461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5914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직선 연결선 74"/>
          <p:cNvCxnSpPr/>
          <p:nvPr/>
        </p:nvCxnSpPr>
        <p:spPr>
          <a:xfrm>
            <a:off x="939908" y="4294152"/>
            <a:ext cx="5760000" cy="0"/>
          </a:xfrm>
          <a:prstGeom prst="line">
            <a:avLst/>
          </a:prstGeom>
          <a:ln>
            <a:solidFill>
              <a:srgbClr val="F0E6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027821" y="1459160"/>
            <a:ext cx="14526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spc="-150" dirty="0">
                <a:latin typeface="+mn-ea"/>
              </a:rPr>
              <a:t>1. </a:t>
            </a:r>
            <a:r>
              <a:rPr lang="ko-KR" altLang="en-US" sz="2000" b="1" spc="-150" dirty="0">
                <a:latin typeface="+mn-ea"/>
              </a:rPr>
              <a:t>교육 안내</a:t>
            </a:r>
          </a:p>
        </p:txBody>
      </p:sp>
      <p:sp>
        <p:nvSpPr>
          <p:cNvPr id="5" name="모서리가 둥근 직사각형 4"/>
          <p:cNvSpPr/>
          <p:nvPr/>
        </p:nvSpPr>
        <p:spPr>
          <a:xfrm>
            <a:off x="1351790" y="1957802"/>
            <a:ext cx="5329905" cy="113331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이 과정은 </a:t>
            </a:r>
            <a:r>
              <a:rPr lang="ko-KR" altLang="en-US" sz="1000" dirty="0">
                <a:solidFill>
                  <a:schemeClr val="dk1"/>
                </a:solidFill>
              </a:rPr>
              <a:t>색채학자 사토 </a:t>
            </a:r>
            <a:r>
              <a:rPr lang="ko-KR" altLang="en-US" sz="1000" dirty="0" err="1">
                <a:solidFill>
                  <a:schemeClr val="dk1"/>
                </a:solidFill>
              </a:rPr>
              <a:t>구니오</a:t>
            </a:r>
            <a:r>
              <a:rPr lang="ko-KR" altLang="en-US" sz="1000" dirty="0">
                <a:solidFill>
                  <a:schemeClr val="dk1"/>
                </a:solidFill>
              </a:rPr>
              <a:t> 박사에 의해 개발된 내용으로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미일 스케일 법에 따라 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22</a:t>
            </a:r>
          </a:p>
          <a:p>
            <a:pPr lvl="0" algn="just"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종류의 이미지를 마스터하는 것을 목표로 합니다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. ‘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패션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’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에 추가 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‘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소품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인테리어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테이블 코디 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네이트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’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등을 포함한 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22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종류의 포트폴리오를 완성하면서 고객에게 정확한 취향 스케일에 의한 패션과 인테리어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제품 등 건의할 수 있도록 진단 실력을 기르는데 목표를 둡니다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.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전문 퍼스널 컬러를 포함시키고 있는 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테이스트의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이미지 제작을 할 수 있도록 교육 과정에 실질적인 내용을 추가했습니다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. CMK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이미지코리아 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CURATION-FIT(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맞춤형 최적화 스타일링 프로그램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의 새로운 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컨텐츠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STYLE SCALE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은 각자의 얼굴형과 체형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골격에 맞는 퍼스널 스타일 이미지 진단 시스템입니다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.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수료 후 미일 특허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개량 특허 출원 중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)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노하우 라이선스가 있는 감성 강사로서 자격증 취득이 가능합니다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.</a:t>
            </a:r>
          </a:p>
        </p:txBody>
      </p:sp>
      <p:sp>
        <p:nvSpPr>
          <p:cNvPr id="60" name="직사각형 59"/>
          <p:cNvSpPr/>
          <p:nvPr/>
        </p:nvSpPr>
        <p:spPr>
          <a:xfrm>
            <a:off x="305244" y="1957802"/>
            <a:ext cx="1078095" cy="3762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pc="-150" dirty="0" err="1">
                <a:solidFill>
                  <a:srgbClr val="33304D"/>
                </a:solidFill>
                <a:latin typeface="+mn-ea"/>
              </a:rPr>
              <a:t>교육소개</a:t>
            </a:r>
            <a:endParaRPr lang="ko-KR" altLang="en-US" spc="-150" dirty="0">
              <a:solidFill>
                <a:srgbClr val="33304D"/>
              </a:solidFill>
              <a:latin typeface="+mn-ea"/>
            </a:endParaRPr>
          </a:p>
        </p:txBody>
      </p:sp>
      <p:sp>
        <p:nvSpPr>
          <p:cNvPr id="70" name="직사각형 69"/>
          <p:cNvSpPr/>
          <p:nvPr/>
        </p:nvSpPr>
        <p:spPr>
          <a:xfrm>
            <a:off x="410244" y="1651672"/>
            <a:ext cx="539047" cy="3548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2000" dirty="0">
                <a:solidFill>
                  <a:srgbClr val="3330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01</a:t>
            </a:r>
            <a:endParaRPr lang="ko-KR" altLang="en-US" sz="2000" dirty="0">
              <a:solidFill>
                <a:srgbClr val="33304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73" name="모서리가 둥근 직사각형 72"/>
          <p:cNvSpPr/>
          <p:nvPr/>
        </p:nvSpPr>
        <p:spPr>
          <a:xfrm>
            <a:off x="1359753" y="4422874"/>
            <a:ext cx="5122383" cy="109645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28600" indent="-2286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22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가지 스케일 종류와 포트폴리오 완성</a:t>
            </a:r>
            <a:endParaRPr lang="en-US" altLang="ko-KR" sz="1000" dirty="0">
              <a:solidFill>
                <a:schemeClr val="tx1"/>
              </a:solidFill>
              <a:latin typeface="+mn-ea"/>
            </a:endParaRPr>
          </a:p>
          <a:p>
            <a:pPr marL="228600" indent="-2286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22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가지 스케일 타입 패션과 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테이스트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진단 방법 마스터</a:t>
            </a:r>
            <a:endParaRPr lang="en-US" altLang="ko-KR" sz="1000" dirty="0">
              <a:solidFill>
                <a:schemeClr val="tx1"/>
              </a:solidFill>
              <a:latin typeface="+mn-ea"/>
            </a:endParaRPr>
          </a:p>
          <a:p>
            <a:pPr marL="228600" indent="-2286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22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가지 스케일 종류의 얼굴의 진단 방법 마스터</a:t>
            </a:r>
            <a:endParaRPr lang="en-US" altLang="ko-KR" sz="1000" dirty="0">
              <a:solidFill>
                <a:schemeClr val="tx1"/>
              </a:solidFill>
              <a:latin typeface="+mn-ea"/>
            </a:endParaRPr>
          </a:p>
          <a:p>
            <a:pPr marL="228600" indent="-2286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22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가지 스케일 타입의 인테리어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소품 등의 진단 방법 마스터</a:t>
            </a:r>
            <a:endParaRPr lang="ko-KR" altLang="ko-KR" sz="1000" dirty="0">
              <a:solidFill>
                <a:schemeClr val="tx1"/>
              </a:solidFill>
            </a:endParaRPr>
          </a:p>
        </p:txBody>
      </p:sp>
      <p:sp>
        <p:nvSpPr>
          <p:cNvPr id="74" name="직사각형 73"/>
          <p:cNvSpPr/>
          <p:nvPr/>
        </p:nvSpPr>
        <p:spPr>
          <a:xfrm>
            <a:off x="280335" y="4422874"/>
            <a:ext cx="1078095" cy="3762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pc="-150" dirty="0">
                <a:solidFill>
                  <a:srgbClr val="33304D"/>
                </a:solidFill>
                <a:latin typeface="+mn-ea"/>
              </a:rPr>
              <a:t>교육목표</a:t>
            </a:r>
          </a:p>
        </p:txBody>
      </p:sp>
      <p:sp>
        <p:nvSpPr>
          <p:cNvPr id="77" name="직사각형 76"/>
          <p:cNvSpPr/>
          <p:nvPr/>
        </p:nvSpPr>
        <p:spPr>
          <a:xfrm>
            <a:off x="385335" y="4116744"/>
            <a:ext cx="539047" cy="3548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2000" dirty="0">
                <a:solidFill>
                  <a:srgbClr val="3330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02</a:t>
            </a:r>
            <a:endParaRPr lang="ko-KR" altLang="en-US" sz="2000" dirty="0">
              <a:solidFill>
                <a:srgbClr val="33304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86" name="직사각형 85"/>
          <p:cNvSpPr/>
          <p:nvPr/>
        </p:nvSpPr>
        <p:spPr>
          <a:xfrm>
            <a:off x="305244" y="5782552"/>
            <a:ext cx="1147039" cy="3762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pc="-150" dirty="0">
                <a:solidFill>
                  <a:srgbClr val="33304D"/>
                </a:solidFill>
                <a:latin typeface="+mn-ea"/>
              </a:rPr>
              <a:t>교육특징</a:t>
            </a:r>
          </a:p>
        </p:txBody>
      </p:sp>
      <p:cxnSp>
        <p:nvCxnSpPr>
          <p:cNvPr id="62" name="직선 연결선 61"/>
          <p:cNvCxnSpPr/>
          <p:nvPr/>
        </p:nvCxnSpPr>
        <p:spPr>
          <a:xfrm>
            <a:off x="964817" y="2413996"/>
            <a:ext cx="5760000" cy="0"/>
          </a:xfrm>
          <a:prstGeom prst="line">
            <a:avLst/>
          </a:prstGeom>
          <a:ln>
            <a:solidFill>
              <a:srgbClr val="F0E6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/>
          <p:cNvCxnSpPr/>
          <p:nvPr/>
        </p:nvCxnSpPr>
        <p:spPr>
          <a:xfrm>
            <a:off x="903292" y="5653830"/>
            <a:ext cx="5760000" cy="0"/>
          </a:xfrm>
          <a:prstGeom prst="line">
            <a:avLst/>
          </a:prstGeom>
          <a:ln>
            <a:solidFill>
              <a:srgbClr val="F0E6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직사각형 88"/>
          <p:cNvSpPr/>
          <p:nvPr/>
        </p:nvSpPr>
        <p:spPr>
          <a:xfrm>
            <a:off x="402280" y="5476423"/>
            <a:ext cx="539047" cy="3548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2000" dirty="0">
                <a:solidFill>
                  <a:srgbClr val="3330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03</a:t>
            </a:r>
            <a:endParaRPr lang="ko-KR" altLang="en-US" sz="2000" dirty="0">
              <a:solidFill>
                <a:srgbClr val="33304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-16690" y="-8837"/>
            <a:ext cx="6874690" cy="9152834"/>
            <a:chOff x="-16690" y="-9573"/>
            <a:chExt cx="6874690" cy="9915570"/>
          </a:xfr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grpSpPr>
        <p:sp>
          <p:nvSpPr>
            <p:cNvPr id="32" name="직사각형 31"/>
            <p:cNvSpPr/>
            <p:nvPr/>
          </p:nvSpPr>
          <p:spPr>
            <a:xfrm rot="10800000">
              <a:off x="0" y="9449004"/>
              <a:ext cx="6858000" cy="36000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 dirty="0">
                <a:solidFill>
                  <a:schemeClr val="bg1"/>
                </a:solidFill>
                <a:latin typeface="청소년서체" panose="02020603020101020101" pitchFamily="18" charset="-127"/>
                <a:ea typeface="청소년서체" panose="02020603020101020101" pitchFamily="18" charset="-127"/>
              </a:endParaRPr>
            </a:p>
          </p:txBody>
        </p:sp>
        <p:sp>
          <p:nvSpPr>
            <p:cNvPr id="97" name="직사각형 96"/>
            <p:cNvSpPr/>
            <p:nvPr/>
          </p:nvSpPr>
          <p:spPr>
            <a:xfrm rot="5400000">
              <a:off x="-4764916" y="4927104"/>
              <a:ext cx="9892931" cy="45719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 dirty="0">
                <a:solidFill>
                  <a:schemeClr val="bg1"/>
                </a:solidFill>
                <a:latin typeface="청소년서체" panose="02020603020101020101" pitchFamily="18" charset="-127"/>
                <a:ea typeface="청소년서체" panose="02020603020101020101" pitchFamily="18" charset="-127"/>
              </a:endParaRPr>
            </a:p>
          </p:txBody>
        </p:sp>
        <p:sp>
          <p:nvSpPr>
            <p:cNvPr id="96" name="직사각형 95"/>
            <p:cNvSpPr/>
            <p:nvPr/>
          </p:nvSpPr>
          <p:spPr>
            <a:xfrm rot="16200000">
              <a:off x="-4897691" y="4871428"/>
              <a:ext cx="9906002" cy="144000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ko-KR" sz="1400" dirty="0">
                <a:solidFill>
                  <a:prstClr val="white"/>
                </a:solidFill>
                <a:latin typeface="정부상징 부처명_16040911" panose="02020503020101020101" pitchFamily="18" charset="-127"/>
                <a:ea typeface="정부상징 부처명_16040911" panose="02020503020101020101" pitchFamily="18" charset="-127"/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0" y="9521370"/>
              <a:ext cx="6858000" cy="384627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>
                <a:solidFill>
                  <a:schemeClr val="bg1"/>
                </a:solidFill>
                <a:latin typeface="정부상징 부처명_16040911" panose="02020503020101020101" pitchFamily="18" charset="-127"/>
                <a:ea typeface="정부상징 부처명_16040911" panose="02020503020101020101" pitchFamily="18" charset="-127"/>
              </a:endParaRP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723292" y="334659"/>
            <a:ext cx="180000" cy="166154"/>
            <a:chOff x="723292" y="437703"/>
            <a:chExt cx="180000" cy="180000"/>
          </a:xfrm>
        </p:grpSpPr>
        <p:cxnSp>
          <p:nvCxnSpPr>
            <p:cNvPr id="8" name="직선 연결선 7"/>
            <p:cNvCxnSpPr/>
            <p:nvPr/>
          </p:nvCxnSpPr>
          <p:spPr>
            <a:xfrm>
              <a:off x="723292" y="527702"/>
              <a:ext cx="180000" cy="0"/>
            </a:xfrm>
            <a:prstGeom prst="line">
              <a:avLst/>
            </a:prstGeom>
            <a:ln w="28575">
              <a:solidFill>
                <a:srgbClr val="3F3C5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직선 연결선 62"/>
            <p:cNvCxnSpPr/>
            <p:nvPr/>
          </p:nvCxnSpPr>
          <p:spPr>
            <a:xfrm rot="16200000">
              <a:off x="723292" y="527703"/>
              <a:ext cx="180000" cy="0"/>
            </a:xfrm>
            <a:prstGeom prst="line">
              <a:avLst/>
            </a:prstGeom>
            <a:ln w="28575">
              <a:solidFill>
                <a:srgbClr val="3F3C5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모서리가 둥근 직사각형 39"/>
          <p:cNvSpPr/>
          <p:nvPr/>
        </p:nvSpPr>
        <p:spPr>
          <a:xfrm>
            <a:off x="1343879" y="5816126"/>
            <a:ext cx="5451440" cy="113331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이론과 실습이 병행되는 코칭 실습 프로그램입니다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>
                <a:solidFill>
                  <a:srgbClr val="C00000"/>
                </a:solidFill>
                <a:latin typeface="+mn-ea"/>
              </a:rPr>
              <a:t>CMK</a:t>
            </a:r>
            <a:r>
              <a:rPr lang="ko-KR" altLang="en-US" sz="1000" dirty="0">
                <a:solidFill>
                  <a:srgbClr val="C00000"/>
                </a:solidFill>
                <a:latin typeface="+mn-ea"/>
              </a:rPr>
              <a:t>이미지코리아에서 개발한 </a:t>
            </a:r>
            <a:r>
              <a:rPr lang="en-US" altLang="ko-KR" sz="1000" dirty="0">
                <a:solidFill>
                  <a:srgbClr val="C00000"/>
                </a:solidFill>
                <a:latin typeface="+mn-ea"/>
              </a:rPr>
              <a:t>TOOL &amp; </a:t>
            </a:r>
            <a:r>
              <a:rPr lang="ko-KR" altLang="en-US" sz="1000" dirty="0">
                <a:solidFill>
                  <a:srgbClr val="C00000"/>
                </a:solidFill>
                <a:latin typeface="+mn-ea"/>
              </a:rPr>
              <a:t>강사 사용 교안 공동 개발</a:t>
            </a:r>
            <a:r>
              <a:rPr lang="en-US" altLang="ko-KR" sz="1000" dirty="0">
                <a:solidFill>
                  <a:srgbClr val="C00000"/>
                </a:solidFill>
                <a:latin typeface="+mn-ea"/>
              </a:rPr>
              <a:t>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교육 후 </a:t>
            </a: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이미지 컨설팅 현장실습 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10</a:t>
            </a: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회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제공</a:t>
            </a:r>
            <a:endParaRPr lang="en-US" altLang="ko-KR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305244" y="6805630"/>
            <a:ext cx="1078095" cy="3762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pc="-150" dirty="0">
                <a:solidFill>
                  <a:srgbClr val="33304D"/>
                </a:solidFill>
                <a:latin typeface="+mn-ea"/>
              </a:rPr>
              <a:t>기대효과</a:t>
            </a:r>
          </a:p>
        </p:txBody>
      </p:sp>
      <p:sp>
        <p:nvSpPr>
          <p:cNvPr id="42" name="직사각형 41"/>
          <p:cNvSpPr/>
          <p:nvPr/>
        </p:nvSpPr>
        <p:spPr>
          <a:xfrm>
            <a:off x="410244" y="6499500"/>
            <a:ext cx="539047" cy="3548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2000" dirty="0">
                <a:solidFill>
                  <a:srgbClr val="3330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04</a:t>
            </a:r>
            <a:endParaRPr lang="ko-KR" altLang="en-US" sz="2000" dirty="0">
              <a:solidFill>
                <a:srgbClr val="33304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cxnSp>
        <p:nvCxnSpPr>
          <p:cNvPr id="43" name="직선 연결선 42"/>
          <p:cNvCxnSpPr/>
          <p:nvPr/>
        </p:nvCxnSpPr>
        <p:spPr>
          <a:xfrm>
            <a:off x="964817" y="6676908"/>
            <a:ext cx="5760000" cy="0"/>
          </a:xfrm>
          <a:prstGeom prst="line">
            <a:avLst/>
          </a:prstGeom>
          <a:ln>
            <a:solidFill>
              <a:srgbClr val="F0E6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모서리가 둥근 직사각형 44"/>
          <p:cNvSpPr/>
          <p:nvPr/>
        </p:nvSpPr>
        <p:spPr>
          <a:xfrm>
            <a:off x="1351790" y="6761669"/>
            <a:ext cx="5451440" cy="113331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이미지 컨설턴트 및 개인 퍼스널 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코칭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진행 시 갖추어야 할 기본지식과</a:t>
            </a:r>
            <a:endParaRPr lang="en-US" altLang="ko-KR" sz="1000" dirty="0">
              <a:solidFill>
                <a:schemeClr val="tx1"/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현장에서의 활용법을 깊이 있게 익힐 수 있습니다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사내강사 및 일반 컨설턴트의 차별화된 이미지 교육이 가능합니다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이미지 진단 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도구중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상위 진단 도구로 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VVIP 1:1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코칭에 최적화된 프로그램입니다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68347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-16690" y="-8837"/>
            <a:ext cx="6874690" cy="9152834"/>
            <a:chOff x="-16690" y="-9573"/>
            <a:chExt cx="6874690" cy="9915570"/>
          </a:xfr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grpSpPr>
        <p:sp>
          <p:nvSpPr>
            <p:cNvPr id="32" name="직사각형 31"/>
            <p:cNvSpPr/>
            <p:nvPr/>
          </p:nvSpPr>
          <p:spPr>
            <a:xfrm rot="10800000">
              <a:off x="0" y="9449004"/>
              <a:ext cx="6858000" cy="36000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 dirty="0">
                <a:solidFill>
                  <a:schemeClr val="bg1"/>
                </a:solidFill>
                <a:latin typeface="청소년서체" panose="02020603020101020101" pitchFamily="18" charset="-127"/>
                <a:ea typeface="청소년서체" panose="02020603020101020101" pitchFamily="18" charset="-127"/>
              </a:endParaRPr>
            </a:p>
          </p:txBody>
        </p:sp>
        <p:sp>
          <p:nvSpPr>
            <p:cNvPr id="97" name="직사각형 96"/>
            <p:cNvSpPr/>
            <p:nvPr/>
          </p:nvSpPr>
          <p:spPr>
            <a:xfrm rot="5400000">
              <a:off x="-4764916" y="4927104"/>
              <a:ext cx="9892931" cy="45719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 dirty="0">
                <a:solidFill>
                  <a:schemeClr val="bg1"/>
                </a:solidFill>
                <a:latin typeface="청소년서체" panose="02020603020101020101" pitchFamily="18" charset="-127"/>
                <a:ea typeface="청소년서체" panose="02020603020101020101" pitchFamily="18" charset="-127"/>
              </a:endParaRPr>
            </a:p>
          </p:txBody>
        </p:sp>
        <p:sp>
          <p:nvSpPr>
            <p:cNvPr id="96" name="직사각형 95"/>
            <p:cNvSpPr/>
            <p:nvPr/>
          </p:nvSpPr>
          <p:spPr>
            <a:xfrm rot="16200000">
              <a:off x="-4897691" y="4871428"/>
              <a:ext cx="9906002" cy="144000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ko-KR" sz="1400" dirty="0">
                <a:solidFill>
                  <a:prstClr val="white"/>
                </a:solidFill>
                <a:latin typeface="정부상징 부처명_16040911" panose="02020503020101020101" pitchFamily="18" charset="-127"/>
                <a:ea typeface="정부상징 부처명_16040911" panose="02020503020101020101" pitchFamily="18" charset="-127"/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0" y="9521370"/>
              <a:ext cx="6858000" cy="384627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>
                <a:solidFill>
                  <a:schemeClr val="bg1"/>
                </a:solidFill>
                <a:latin typeface="정부상징 부처명_16040911" panose="02020503020101020101" pitchFamily="18" charset="-127"/>
                <a:ea typeface="정부상징 부처명_16040911" panose="02020503020101020101" pitchFamily="18" charset="-127"/>
              </a:endParaRP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723292" y="404033"/>
            <a:ext cx="180000" cy="166154"/>
            <a:chOff x="723292" y="437703"/>
            <a:chExt cx="180000" cy="180000"/>
          </a:xfrm>
        </p:grpSpPr>
        <p:cxnSp>
          <p:nvCxnSpPr>
            <p:cNvPr id="8" name="직선 연결선 7"/>
            <p:cNvCxnSpPr/>
            <p:nvPr/>
          </p:nvCxnSpPr>
          <p:spPr>
            <a:xfrm>
              <a:off x="723292" y="527702"/>
              <a:ext cx="180000" cy="0"/>
            </a:xfrm>
            <a:prstGeom prst="line">
              <a:avLst/>
            </a:prstGeom>
            <a:ln w="28575">
              <a:solidFill>
                <a:srgbClr val="3F3C5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직선 연결선 62"/>
            <p:cNvCxnSpPr/>
            <p:nvPr/>
          </p:nvCxnSpPr>
          <p:spPr>
            <a:xfrm rot="16200000">
              <a:off x="723292" y="527703"/>
              <a:ext cx="180000" cy="0"/>
            </a:xfrm>
            <a:prstGeom prst="line">
              <a:avLst/>
            </a:prstGeom>
            <a:ln w="28575">
              <a:solidFill>
                <a:srgbClr val="3F3C5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/>
          <p:cNvSpPr txBox="1"/>
          <p:nvPr/>
        </p:nvSpPr>
        <p:spPr>
          <a:xfrm>
            <a:off x="5027821" y="398042"/>
            <a:ext cx="14526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spc="-150" dirty="0">
                <a:latin typeface="+mn-ea"/>
              </a:rPr>
              <a:t>1. </a:t>
            </a:r>
            <a:r>
              <a:rPr lang="ko-KR" altLang="en-US" sz="2000" b="1" spc="-150" dirty="0">
                <a:latin typeface="+mn-ea"/>
              </a:rPr>
              <a:t>교육 안내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167" y="972808"/>
            <a:ext cx="14093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spc="-150" dirty="0">
                <a:latin typeface="+mn-ea"/>
              </a:rPr>
              <a:t>CEO</a:t>
            </a:r>
            <a:r>
              <a:rPr lang="ko-KR" altLang="en-US" sz="2000" b="1" spc="-150" dirty="0">
                <a:latin typeface="+mn-ea"/>
              </a:rPr>
              <a:t> 프로필</a:t>
            </a:r>
          </a:p>
        </p:txBody>
      </p:sp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49D28833-39F6-4FAF-BE11-74377C9F5E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0529044"/>
              </p:ext>
            </p:extLst>
          </p:nvPr>
        </p:nvGraphicFramePr>
        <p:xfrm>
          <a:off x="2277288" y="1695444"/>
          <a:ext cx="4356593" cy="6732547"/>
        </p:xfrm>
        <a:graphic>
          <a:graphicData uri="http://schemas.openxmlformats.org/drawingml/2006/table">
            <a:tbl>
              <a:tblPr firstRow="1" bandRow="1"/>
              <a:tblGrid>
                <a:gridCol w="590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5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433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11662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학력</a:t>
                      </a:r>
                    </a:p>
                  </a:txBody>
                  <a:tcPr marL="58435" marR="58435" marT="56271" marB="5627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eaLnBrk="1" hangingPunct="1"/>
                      <a:r>
                        <a:rPr lang="ko-KR" altLang="ko-KR" sz="800" b="0" dirty="0" err="1">
                          <a:latin typeface="+mn-ea"/>
                          <a:ea typeface="+mn-ea"/>
                        </a:rPr>
                        <a:t>ㆍ</a:t>
                      </a:r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교육학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 박사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  <a:p>
                      <a:pPr eaLnBrk="1" hangingPunct="1"/>
                      <a:r>
                        <a:rPr lang="ko-KR" altLang="ko-KR" sz="800" b="0" dirty="0" err="1">
                          <a:latin typeface="+mn-ea"/>
                          <a:ea typeface="+mn-ea"/>
                        </a:rPr>
                        <a:t>ㆍ</a:t>
                      </a:r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AICI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국제이미지컨설턴트협회 </a:t>
                      </a:r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서울챕터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 명예 회장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  <a:p>
                      <a:pPr eaLnBrk="1" hangingPunct="1"/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ㆍ</a:t>
                      </a:r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일본</a:t>
                      </a:r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) Shu </a:t>
                      </a:r>
                      <a:r>
                        <a:rPr lang="en-US" altLang="ko-KR" sz="800" b="0" dirty="0" err="1">
                          <a:latin typeface="+mn-ea"/>
                          <a:ea typeface="+mn-ea"/>
                        </a:rPr>
                        <a:t>Uemura</a:t>
                      </a:r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 Beauty College 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수료 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  <a:p>
                      <a:pPr eaLnBrk="1" hangingPunct="1"/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ㆍ</a:t>
                      </a:r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프랑스</a:t>
                      </a:r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)Jean </a:t>
                      </a:r>
                      <a:r>
                        <a:rPr lang="en-US" altLang="ko-KR" sz="800" b="0" dirty="0" err="1">
                          <a:latin typeface="+mn-ea"/>
                          <a:ea typeface="+mn-ea"/>
                        </a:rPr>
                        <a:t>Perre</a:t>
                      </a:r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0" dirty="0" err="1">
                          <a:latin typeface="+mn-ea"/>
                          <a:ea typeface="+mn-ea"/>
                        </a:rPr>
                        <a:t>Fleurimon</a:t>
                      </a:r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 Make-Up School 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연수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83077" marR="83077" marT="43200" marB="43200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405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11662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경력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58435" marR="58435" marT="56271" marB="5627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eaLnBrk="1" hangingPunct="1">
                        <a:lnSpc>
                          <a:spcPct val="100000"/>
                        </a:lnSpc>
                      </a:pPr>
                      <a:r>
                        <a:rPr lang="ko-KR" altLang="ko-KR" sz="800" b="0" dirty="0" err="1">
                          <a:latin typeface="+mn-ea"/>
                          <a:ea typeface="+mn-ea"/>
                        </a:rPr>
                        <a:t>ㆍ</a:t>
                      </a:r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사</a:t>
                      </a:r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한국 예술 종합 평생교육원 </a:t>
                      </a:r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이미지메이킹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 회장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  <a:p>
                      <a:pPr eaLnBrk="1" hangingPunct="1">
                        <a:lnSpc>
                          <a:spcPct val="100000"/>
                        </a:lnSpc>
                      </a:pPr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ㆍ코리아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뷰티디자인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 학회 산학협력 운영위원장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  <a:p>
                      <a:pPr eaLnBrk="1" hangingPunct="1">
                        <a:lnSpc>
                          <a:spcPct val="100000"/>
                        </a:lnSpc>
                      </a:pPr>
                      <a:r>
                        <a:rPr lang="ko-KR" altLang="ko-KR" sz="800" b="0" dirty="0" err="1">
                          <a:latin typeface="+mn-ea"/>
                          <a:ea typeface="+mn-ea"/>
                        </a:rPr>
                        <a:t>ㆍ</a:t>
                      </a:r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한성대학교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 예술대학원 </a:t>
                      </a:r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뷰티예술학부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 외래교수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  <a:p>
                      <a:pPr eaLnBrk="1" hangingPunct="1">
                        <a:lnSpc>
                          <a:spcPct val="100000"/>
                        </a:lnSpc>
                      </a:pPr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ㆍ</a:t>
                      </a:r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LVMH 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그룹 겔랑 </a:t>
                      </a:r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코스메틱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 임원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  <a:p>
                      <a:pPr eaLnBrk="1" hangingPunct="1">
                        <a:lnSpc>
                          <a:spcPct val="100000"/>
                        </a:lnSpc>
                      </a:pPr>
                      <a:r>
                        <a:rPr lang="ko-KR" altLang="ko-KR" sz="800" b="0" dirty="0" err="1">
                          <a:latin typeface="+mn-ea"/>
                          <a:ea typeface="+mn-ea"/>
                        </a:rPr>
                        <a:t>ㆍ</a:t>
                      </a:r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SBS 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美 </a:t>
                      </a:r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뷰티아카데미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 대표원장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  <a:p>
                      <a:pPr eaLnBrk="1" hangingPunct="1">
                        <a:lnSpc>
                          <a:spcPct val="100000"/>
                        </a:lnSpc>
                      </a:pPr>
                      <a:r>
                        <a:rPr lang="ko-KR" altLang="ko-KR" sz="800" b="0" dirty="0" err="1">
                          <a:latin typeface="+mn-ea"/>
                          <a:ea typeface="+mn-ea"/>
                        </a:rPr>
                        <a:t>ㆍ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㈜ </a:t>
                      </a:r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아모레퍼시픽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 태평양 </a:t>
                      </a:r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뷰티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 아카데미 창설 멤버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  <a:p>
                      <a:pPr eaLnBrk="1" hangingPunct="1">
                        <a:lnSpc>
                          <a:spcPct val="100000"/>
                        </a:lnSpc>
                      </a:pPr>
                      <a:r>
                        <a:rPr lang="ko-KR" altLang="ko-KR" sz="800" b="0" dirty="0" err="1">
                          <a:latin typeface="+mn-ea"/>
                          <a:ea typeface="+mn-ea"/>
                        </a:rPr>
                        <a:t>ㆍ</a:t>
                      </a:r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조선대학교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 영상디자인학부 겸임교수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  <a:p>
                      <a:pPr eaLnBrk="1" hangingPunct="1">
                        <a:lnSpc>
                          <a:spcPct val="100000"/>
                        </a:lnSpc>
                      </a:pPr>
                      <a:r>
                        <a:rPr lang="ko-KR" altLang="ko-KR" sz="800" b="0" dirty="0" err="1">
                          <a:latin typeface="+mn-ea"/>
                          <a:ea typeface="+mn-ea"/>
                        </a:rPr>
                        <a:t>ㆍ</a:t>
                      </a:r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문화체육관광부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 주최 </a:t>
                      </a:r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각부처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 장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  <a:sym typeface="Wingdings" pitchFamily="2" charset="2"/>
                        </a:rPr>
                        <a:t>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차관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  <a:sym typeface="Wingdings" pitchFamily="2" charset="2"/>
                        </a:rPr>
                        <a:t>국장과장급 </a:t>
                      </a:r>
                      <a:endParaRPr lang="en-US" altLang="ko-KR" sz="800" b="0" dirty="0"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eaLnBrk="1" hangingPunct="1">
                        <a:lnSpc>
                          <a:spcPct val="100000"/>
                        </a:lnSpc>
                      </a:pPr>
                      <a:r>
                        <a:rPr lang="en-US" altLang="ko-KR" sz="800" b="0" dirty="0">
                          <a:latin typeface="+mn-ea"/>
                          <a:ea typeface="+mn-ea"/>
                          <a:sym typeface="Wingdings" pitchFamily="2" charset="2"/>
                        </a:rPr>
                        <a:t>   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미디어 트레이닝 진행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  <a:p>
                      <a:pPr eaLnBrk="1" hangingPunct="1">
                        <a:lnSpc>
                          <a:spcPct val="100000"/>
                        </a:lnSpc>
                      </a:pPr>
                      <a:r>
                        <a:rPr lang="ko-KR" altLang="ko-KR" sz="800" b="0" dirty="0" err="1">
                          <a:latin typeface="+mn-ea"/>
                          <a:ea typeface="+mn-ea"/>
                        </a:rPr>
                        <a:t>ㆍ</a:t>
                      </a:r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국무총리실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 장관</a:t>
                      </a:r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차관</a:t>
                      </a:r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국장급 개인 </a:t>
                      </a:r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PI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 컨설팅 진행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  <a:p>
                      <a:pPr eaLnBrk="1" hangingPunct="1">
                        <a:lnSpc>
                          <a:spcPct val="100000"/>
                        </a:lnSpc>
                      </a:pPr>
                      <a:r>
                        <a:rPr lang="ko-KR" altLang="ko-KR" sz="800" b="0" dirty="0" err="1">
                          <a:latin typeface="+mn-ea"/>
                          <a:ea typeface="+mn-ea"/>
                        </a:rPr>
                        <a:t>ㆍ</a:t>
                      </a:r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SK 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그룹 임원 </a:t>
                      </a:r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PI 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진행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  <a:p>
                      <a:pPr eaLnBrk="1" hangingPunct="1">
                        <a:lnSpc>
                          <a:spcPct val="100000"/>
                        </a:lnSpc>
                      </a:pPr>
                      <a:r>
                        <a:rPr lang="ko-KR" altLang="ko-KR" sz="800" b="0" dirty="0" err="1">
                          <a:latin typeface="+mn-ea"/>
                          <a:ea typeface="+mn-ea"/>
                        </a:rPr>
                        <a:t>ㆍ</a:t>
                      </a:r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현대자동차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카마스터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 및 임직원 교육과 개인</a:t>
                      </a:r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PI 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진행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  <a:p>
                      <a:pPr eaLnBrk="1" hangingPunct="1">
                        <a:lnSpc>
                          <a:spcPct val="100000"/>
                        </a:lnSpc>
                      </a:pPr>
                      <a:r>
                        <a:rPr lang="ko-KR" altLang="ko-KR" sz="800" b="0" dirty="0" err="1">
                          <a:latin typeface="+mn-ea"/>
                          <a:ea typeface="+mn-ea"/>
                        </a:rPr>
                        <a:t>ㆍ</a:t>
                      </a:r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루이비통</a:t>
                      </a:r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마크제이콥스</a:t>
                      </a:r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크리스찬디올</a:t>
                      </a:r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, MCM</a:t>
                      </a:r>
                      <a:r>
                        <a:rPr lang="en-US" altLang="ko-KR" sz="800" b="0" baseline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baseline="0" dirty="0">
                          <a:latin typeface="+mn-ea"/>
                          <a:ea typeface="+mn-ea"/>
                        </a:rPr>
                        <a:t>등 명품 브랜드 강의 진행과 임원 개인</a:t>
                      </a:r>
                      <a:r>
                        <a:rPr lang="en-US" altLang="ko-KR" sz="800" b="0" baseline="0" dirty="0">
                          <a:latin typeface="+mn-ea"/>
                          <a:ea typeface="+mn-ea"/>
                        </a:rPr>
                        <a:t>PI </a:t>
                      </a:r>
                      <a:r>
                        <a:rPr lang="ko-KR" altLang="en-US" sz="800" b="0" baseline="0" dirty="0">
                          <a:latin typeface="+mn-ea"/>
                          <a:ea typeface="+mn-ea"/>
                        </a:rPr>
                        <a:t>진행</a:t>
                      </a:r>
                      <a:endParaRPr lang="en-US" altLang="ko-KR" sz="800" b="0" baseline="0" dirty="0">
                        <a:latin typeface="+mn-ea"/>
                        <a:ea typeface="+mn-ea"/>
                      </a:endParaRPr>
                    </a:p>
                    <a:p>
                      <a:pPr eaLnBrk="1" hangingPunct="1">
                        <a:lnSpc>
                          <a:spcPct val="100000"/>
                        </a:lnSpc>
                      </a:pPr>
                      <a:r>
                        <a:rPr lang="ko-KR" altLang="ko-KR" sz="800" b="0" dirty="0" err="1">
                          <a:latin typeface="+mn-ea"/>
                          <a:ea typeface="+mn-ea"/>
                        </a:rPr>
                        <a:t>ㆍ</a:t>
                      </a:r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하나은행</a:t>
                      </a:r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신한은행</a:t>
                      </a:r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우리은행 책임자급 교육</a:t>
                      </a:r>
                      <a:r>
                        <a:rPr lang="ko-KR" altLang="en-US" sz="800" b="0" baseline="0" dirty="0">
                          <a:latin typeface="+mn-ea"/>
                          <a:ea typeface="+mn-ea"/>
                        </a:rPr>
                        <a:t> 및 </a:t>
                      </a:r>
                      <a:br>
                        <a:rPr lang="en-US" altLang="ko-KR" sz="800" b="0" baseline="0" dirty="0">
                          <a:latin typeface="+mn-ea"/>
                          <a:ea typeface="+mn-ea"/>
                        </a:rPr>
                      </a:br>
                      <a:r>
                        <a:rPr lang="en-US" altLang="ko-KR" sz="800" b="0" baseline="0" dirty="0">
                          <a:latin typeface="+mn-ea"/>
                          <a:ea typeface="+mn-ea"/>
                        </a:rPr>
                        <a:t>  </a:t>
                      </a:r>
                      <a:r>
                        <a:rPr lang="ko-KR" altLang="en-US" sz="800" b="0" baseline="0" dirty="0">
                          <a:latin typeface="+mn-ea"/>
                          <a:ea typeface="+mn-ea"/>
                        </a:rPr>
                        <a:t>임원진 개인 컨설팅 진행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83077" marR="83077" marT="43200" marB="43200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0467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11662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교육이수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  <a:p>
                      <a:pPr marL="0" marR="0" indent="0" algn="ctr" defTabSz="11662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  <a:p>
                      <a:pPr marL="0" marR="0" indent="0" algn="ctr" defTabSz="11662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및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  <a:p>
                      <a:pPr marL="0" marR="0" indent="0" algn="ctr" defTabSz="11662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  <a:p>
                      <a:pPr marL="0" marR="0" indent="0" algn="ctr" defTabSz="11662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자격사항</a:t>
                      </a:r>
                    </a:p>
                  </a:txBody>
                  <a:tcPr marL="58435" marR="58435" marT="56271" marB="5627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eaLnBrk="1" hangingPunct="1"/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ㆍ(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일</a:t>
                      </a:r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) TASTE Image Scale 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과정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  <a:p>
                      <a:pPr eaLnBrk="1" hangingPunct="1"/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ㆍ(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일</a:t>
                      </a:r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) PERSONAL COLOR TEST 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과정 수료</a:t>
                      </a:r>
                    </a:p>
                    <a:p>
                      <a:pPr eaLnBrk="1" hangingPunct="1"/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ㆍ(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일</a:t>
                      </a:r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) DAKIKAWA ESTHETIC SCHOOL 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수료</a:t>
                      </a:r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일</a:t>
                      </a:r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) JECIKA NAIL ART 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연수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  <a:p>
                      <a:pPr eaLnBrk="1" hangingPunct="1"/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ㆍ(</a:t>
                      </a:r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프</a:t>
                      </a:r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) JEAN PERRE FLEURIMON MAKE-UP SCHOOL 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연수</a:t>
                      </a:r>
                    </a:p>
                    <a:p>
                      <a:pPr eaLnBrk="1" hangingPunct="1"/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ㆍ(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미</a:t>
                      </a:r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) JOE BRASCO 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미디어 메이크업 과정 수료</a:t>
                      </a:r>
                    </a:p>
                    <a:p>
                      <a:pPr eaLnBrk="1" hangingPunct="1"/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ㆍ(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독</a:t>
                      </a:r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) STAGE COLOR PERSONAL COLOR TEST 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과정 수료</a:t>
                      </a:r>
                    </a:p>
                    <a:p>
                      <a:pPr eaLnBrk="1" hangingPunct="1"/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ㆍ 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서강대학교 </a:t>
                      </a:r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MBTI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강사과정수료</a:t>
                      </a:r>
                    </a:p>
                    <a:p>
                      <a:pPr eaLnBrk="1" hangingPunct="1"/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ㆍ </a:t>
                      </a:r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멕스웰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리더쉽과정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 일반과정 수료</a:t>
                      </a:r>
                    </a:p>
                    <a:p>
                      <a:pPr eaLnBrk="1" hangingPunct="1"/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ㆍ </a:t>
                      </a:r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윌슨러닝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 코리아 </a:t>
                      </a:r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프리젠테이션스킬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 수료</a:t>
                      </a:r>
                    </a:p>
                    <a:p>
                      <a:pPr eaLnBrk="1" hangingPunct="1"/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ㆍ 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한국유행색산업협회</a:t>
                      </a:r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한국산업디자인진흥원</a:t>
                      </a:r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문은배 색채디자인 연구소</a:t>
                      </a:r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한국컬러협회 컬러코디네이터 인증 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  <a:p>
                      <a:pPr eaLnBrk="1" hangingPunct="1"/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ㆍ 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컬러리스트 자격증 취득</a:t>
                      </a:r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산업인력관리공단</a:t>
                      </a:r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83077" marR="83077" marT="43200" marB="43200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301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11662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강의분야</a:t>
                      </a:r>
                    </a:p>
                  </a:txBody>
                  <a:tcPr marL="58435" marR="58435" marT="56271" marB="5627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이미지메이킹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altLang="en-US" sz="800" b="0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이미지 진단 및 분석</a:t>
                      </a:r>
                      <a:r>
                        <a:rPr lang="en-US" altLang="ko-KR" sz="800" b="0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0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이미지 디스크</a:t>
                      </a:r>
                      <a:r>
                        <a:rPr lang="en-US" altLang="ko-KR" sz="800" b="0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0" i="0" u="none" strike="noStrike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셀프</a:t>
                      </a:r>
                      <a:r>
                        <a:rPr lang="ko-KR" altLang="en-US" sz="800" b="0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이미지 설계</a:t>
                      </a:r>
                      <a:endParaRPr lang="en-US" altLang="ko-KR" sz="800" b="0" i="0" u="none" strike="noStrike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PI – APPEARANCE/BEHAVIOR/COMMUNICATION</a:t>
                      </a:r>
                      <a:endParaRPr lang="ko-KR" altLang="en-US" sz="800" b="0" i="0" u="none" strike="noStrike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퍼스널 컬러 이미지</a:t>
                      </a:r>
                      <a:r>
                        <a:rPr lang="en-US" altLang="ko-KR" sz="800" b="0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0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메이크업</a:t>
                      </a:r>
                      <a:r>
                        <a:rPr lang="en-US" altLang="ko-KR" sz="800" b="0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0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패션 </a:t>
                      </a:r>
                      <a:r>
                        <a:rPr lang="ko-KR" altLang="en-US" sz="800" b="0" i="0" u="none" strike="noStrike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코디네이션</a:t>
                      </a:r>
                      <a:r>
                        <a:rPr lang="en-US" altLang="ko-KR" sz="800" b="0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0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서비스 마인드</a:t>
                      </a:r>
                      <a:r>
                        <a:rPr lang="en-US" altLang="ko-KR" sz="800" b="0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0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비즈니스 매너</a:t>
                      </a:r>
                      <a:r>
                        <a:rPr lang="en-US" altLang="ko-KR" sz="800" b="0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lang="ko-KR" altLang="en-US" sz="800" b="0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바디랭귀지 스킬</a:t>
                      </a:r>
                      <a:endParaRPr lang="en-US" altLang="ko-KR" sz="800" b="0" i="0" u="none" strike="noStrike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3077" marR="83077" marT="43200" marB="43200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646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11662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저서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58435" marR="58435" marT="56271" marB="5627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eaLnBrk="1" hangingPunct="1"/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『 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자신감을 높여라 </a:t>
                      </a:r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』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  <a:p>
                      <a:pPr eaLnBrk="1" hangingPunct="1"/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『 </a:t>
                      </a:r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프리젠테이션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코칭북</a:t>
                      </a:r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 』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  <a:p>
                      <a:pPr eaLnBrk="1" hangingPunct="1"/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『 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퍼스널 컬러리스트 </a:t>
                      </a:r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급 자격시험</a:t>
                      </a:r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 』</a:t>
                      </a:r>
                    </a:p>
                  </a:txBody>
                  <a:tcPr marL="83077" marR="83077" marT="43200" marB="43200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8467" y="3228766"/>
            <a:ext cx="1415772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 sz="1500" dirty="0"/>
          </a:p>
          <a:p>
            <a:r>
              <a:rPr lang="en-US" altLang="ko-KR" sz="1500" dirty="0"/>
              <a:t>CHO </a:t>
            </a:r>
            <a:r>
              <a:rPr lang="en-US" altLang="ko-KR" sz="1500" dirty="0" err="1"/>
              <a:t>Mikyung</a:t>
            </a:r>
            <a:endParaRPr lang="en-US" altLang="ko-KR" sz="1500" dirty="0"/>
          </a:p>
          <a:p>
            <a:pPr algn="r"/>
            <a:r>
              <a:rPr lang="ko-KR" altLang="en-US" sz="1500" dirty="0">
                <a:solidFill>
                  <a:schemeClr val="accent2">
                    <a:lumMod val="50000"/>
                  </a:schemeClr>
                </a:solidFill>
              </a:rPr>
              <a:t>조 미경</a:t>
            </a:r>
          </a:p>
        </p:txBody>
      </p:sp>
      <p:pic>
        <p:nvPicPr>
          <p:cNvPr id="2051" name="Picture 3" descr="C:\Users\user\Pictures\비전프로필 관련\프로필5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28" t="17555" b="22761"/>
          <a:stretch/>
        </p:blipFill>
        <p:spPr bwMode="auto">
          <a:xfrm>
            <a:off x="390570" y="1723693"/>
            <a:ext cx="1722770" cy="1683368"/>
          </a:xfrm>
          <a:prstGeom prst="ellipse">
            <a:avLst/>
          </a:prstGeom>
          <a:ln>
            <a:noFill/>
          </a:ln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1545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-16690" y="-8837"/>
            <a:ext cx="6874690" cy="9152834"/>
            <a:chOff x="-16690" y="-9573"/>
            <a:chExt cx="6874690" cy="9915570"/>
          </a:xfr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grpSpPr>
        <p:sp>
          <p:nvSpPr>
            <p:cNvPr id="32" name="직사각형 31"/>
            <p:cNvSpPr/>
            <p:nvPr/>
          </p:nvSpPr>
          <p:spPr>
            <a:xfrm rot="10800000">
              <a:off x="0" y="9449004"/>
              <a:ext cx="6858000" cy="36000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 dirty="0">
                <a:solidFill>
                  <a:schemeClr val="bg1"/>
                </a:solidFill>
                <a:latin typeface="청소년서체" panose="02020603020101020101" pitchFamily="18" charset="-127"/>
                <a:ea typeface="청소년서체" panose="02020603020101020101" pitchFamily="18" charset="-127"/>
              </a:endParaRPr>
            </a:p>
          </p:txBody>
        </p:sp>
        <p:sp>
          <p:nvSpPr>
            <p:cNvPr id="97" name="직사각형 96"/>
            <p:cNvSpPr/>
            <p:nvPr/>
          </p:nvSpPr>
          <p:spPr>
            <a:xfrm rot="5400000">
              <a:off x="-4764916" y="4927104"/>
              <a:ext cx="9892931" cy="45719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 dirty="0">
                <a:solidFill>
                  <a:schemeClr val="bg1"/>
                </a:solidFill>
                <a:latin typeface="청소년서체" panose="02020603020101020101" pitchFamily="18" charset="-127"/>
                <a:ea typeface="청소년서체" panose="02020603020101020101" pitchFamily="18" charset="-127"/>
              </a:endParaRPr>
            </a:p>
          </p:txBody>
        </p:sp>
        <p:sp>
          <p:nvSpPr>
            <p:cNvPr id="96" name="직사각형 95"/>
            <p:cNvSpPr/>
            <p:nvPr/>
          </p:nvSpPr>
          <p:spPr>
            <a:xfrm rot="16200000">
              <a:off x="-4897691" y="4871428"/>
              <a:ext cx="9906002" cy="144000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ko-KR" sz="1400" dirty="0">
                <a:solidFill>
                  <a:prstClr val="white"/>
                </a:solidFill>
                <a:latin typeface="정부상징 부처명_16040911" panose="02020503020101020101" pitchFamily="18" charset="-127"/>
                <a:ea typeface="정부상징 부처명_16040911" panose="02020503020101020101" pitchFamily="18" charset="-127"/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0" y="9521370"/>
              <a:ext cx="6858000" cy="384627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>
                <a:solidFill>
                  <a:schemeClr val="bg1"/>
                </a:solidFill>
                <a:latin typeface="정부상징 부처명_16040911" panose="02020503020101020101" pitchFamily="18" charset="-127"/>
                <a:ea typeface="정부상징 부처명_16040911" panose="02020503020101020101" pitchFamily="18" charset="-127"/>
              </a:endParaRP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723292" y="404033"/>
            <a:ext cx="180000" cy="166154"/>
            <a:chOff x="723292" y="437703"/>
            <a:chExt cx="180000" cy="180000"/>
          </a:xfrm>
        </p:grpSpPr>
        <p:cxnSp>
          <p:nvCxnSpPr>
            <p:cNvPr id="8" name="직선 연결선 7"/>
            <p:cNvCxnSpPr/>
            <p:nvPr/>
          </p:nvCxnSpPr>
          <p:spPr>
            <a:xfrm>
              <a:off x="723292" y="527702"/>
              <a:ext cx="180000" cy="0"/>
            </a:xfrm>
            <a:prstGeom prst="line">
              <a:avLst/>
            </a:prstGeom>
            <a:ln w="28575">
              <a:solidFill>
                <a:srgbClr val="3F3C5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직선 연결선 62"/>
            <p:cNvCxnSpPr/>
            <p:nvPr/>
          </p:nvCxnSpPr>
          <p:spPr>
            <a:xfrm rot="16200000">
              <a:off x="723292" y="527703"/>
              <a:ext cx="180000" cy="0"/>
            </a:xfrm>
            <a:prstGeom prst="line">
              <a:avLst/>
            </a:prstGeom>
            <a:ln w="28575">
              <a:solidFill>
                <a:srgbClr val="3F3C5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/>
          <p:cNvSpPr txBox="1"/>
          <p:nvPr/>
        </p:nvSpPr>
        <p:spPr>
          <a:xfrm>
            <a:off x="5027821" y="398042"/>
            <a:ext cx="14526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spc="-150" dirty="0">
                <a:latin typeface="+mn-ea"/>
              </a:rPr>
              <a:t>1. </a:t>
            </a:r>
            <a:r>
              <a:rPr lang="ko-KR" altLang="en-US" sz="2000" b="1" spc="-150" dirty="0">
                <a:latin typeface="+mn-ea"/>
              </a:rPr>
              <a:t>교육 안내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168" y="972808"/>
            <a:ext cx="19159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spc="-150" dirty="0">
                <a:latin typeface="+mn-ea"/>
              </a:rPr>
              <a:t>컨설턴트 프로필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8805" y="3028629"/>
            <a:ext cx="82907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 sz="1500" dirty="0"/>
          </a:p>
          <a:p>
            <a:r>
              <a:rPr lang="ko-KR" altLang="en-US" sz="1500" dirty="0"/>
              <a:t>조 </a:t>
            </a:r>
            <a:r>
              <a:rPr lang="ko-KR" altLang="en-US" sz="1500" dirty="0" err="1"/>
              <a:t>혜나</a:t>
            </a:r>
            <a:endParaRPr lang="ko-KR" altLang="en-US" sz="1500" dirty="0"/>
          </a:p>
        </p:txBody>
      </p:sp>
      <p:sp>
        <p:nvSpPr>
          <p:cNvPr id="15" name="타원 1"/>
          <p:cNvSpPr/>
          <p:nvPr/>
        </p:nvSpPr>
        <p:spPr>
          <a:xfrm>
            <a:off x="502885" y="1710459"/>
            <a:ext cx="1666528" cy="1538334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맑은 고딕"/>
              </a:defRPr>
            </a:pPr>
            <a:endParaRPr/>
          </a:p>
        </p:txBody>
      </p:sp>
      <p:graphicFrame>
        <p:nvGraphicFramePr>
          <p:cNvPr id="16" name="표 2"/>
          <p:cNvGraphicFramePr/>
          <p:nvPr>
            <p:extLst>
              <p:ext uri="{D42A27DB-BD31-4B8C-83A1-F6EECF244321}">
                <p14:modId xmlns:p14="http://schemas.microsoft.com/office/powerpoint/2010/main" val="1564042917"/>
              </p:ext>
            </p:extLst>
          </p:nvPr>
        </p:nvGraphicFramePr>
        <p:xfrm>
          <a:off x="2346412" y="1710460"/>
          <a:ext cx="4230235" cy="6533097"/>
        </p:xfrm>
        <a:graphic>
          <a:graphicData uri="http://schemas.openxmlformats.org/drawingml/2006/table">
            <a:tbl>
              <a:tblPr firstRow="1"/>
              <a:tblGrid>
                <a:gridCol w="8778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3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910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sz="1000" b="0" kern="1200" dirty="0" err="1"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학력</a:t>
                      </a:r>
                      <a:endParaRPr sz="1000" b="0" kern="1200" dirty="0">
                        <a:solidFill>
                          <a:schemeClr val="tx1"/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60960" marR="60960" marT="56271" marB="5627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12700">
                      <a:solidFill>
                        <a:srgbClr val="262626"/>
                      </a:solidFill>
                    </a:lnT>
                    <a:lnB w="6350">
                      <a:solidFill>
                        <a:srgbClr val="262626"/>
                      </a:solidFill>
                      <a:prstDash val="sysDot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-85725" algn="l" defTabSz="914400" rtl="0" eaLnBrk="1" latinLnBrk="1" hangingPunct="1">
                        <a:lnSpc>
                          <a:spcPct val="130000"/>
                        </a:lnSpc>
                        <a:buSzPct val="100000"/>
                        <a:buChar char="•"/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상명대학교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실내디자인학과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학사</a:t>
                      </a:r>
                      <a:endParaRPr kumimoji="0" sz="900" b="0" kern="1200" dirty="0">
                        <a:solidFill>
                          <a:schemeClr val="tx1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Arial" pitchFamily="34" charset="0"/>
                      </a:endParaRPr>
                    </a:p>
                  </a:txBody>
                  <a:tcPr marL="46800" marR="46800" marT="43200" marB="43200" anchor="ctr" horzOverflow="overflow">
                    <a:lnL w="6350">
                      <a:solidFill>
                        <a:srgbClr val="000000"/>
                      </a:solidFill>
                      <a:prstDash val="sysDot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262626"/>
                      </a:solidFill>
                    </a:lnT>
                    <a:lnB w="6350">
                      <a:solidFill>
                        <a:srgbClr val="262626"/>
                      </a:solidFill>
                      <a:prstDash val="sysDot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86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sz="1000" b="0" kern="1200" dirty="0" err="1"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경력</a:t>
                      </a:r>
                      <a:endParaRPr sz="1000" b="0" kern="1200" dirty="0">
                        <a:solidFill>
                          <a:schemeClr val="tx1"/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60960" marR="60960" marT="56271" marB="5627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262626"/>
                      </a:solidFill>
                      <a:prstDash val="sysDot"/>
                    </a:lnT>
                    <a:lnB w="6350">
                      <a:solidFill>
                        <a:srgbClr val="262626"/>
                      </a:solidFill>
                      <a:prstDash val="sysDot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30000"/>
                        </a:lnSpc>
                        <a:buSzPct val="100000"/>
                        <a:buChar char="•"/>
                        <a:defRPr sz="900">
                          <a:latin typeface="Calibri Light"/>
                          <a:ea typeface="Calibri Light"/>
                          <a:cs typeface="Calibri Light"/>
                          <a:sym typeface="Calibri Light"/>
                        </a:defRPr>
                      </a:pP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 (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  <a:sym typeface="맑은 고딕"/>
                        </a:rPr>
                        <a:t>現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)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CMK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  <a:sym typeface="맑은 고딕"/>
                        </a:rPr>
                        <a:t>이미지코리아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  <a:sym typeface="맑은 고딕"/>
                        </a:rPr>
                        <a:t>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  <a:sym typeface="맑은 고딕"/>
                        </a:rPr>
                        <a:t>수석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  <a:sym typeface="맑은 고딕"/>
                        </a:rPr>
                        <a:t>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  <a:sym typeface="맑은 고딕"/>
                        </a:rPr>
                        <a:t>연구원</a:t>
                      </a:r>
                      <a:endParaRPr kumimoji="0" lang="en-US" sz="900" b="0" kern="1200" dirty="0">
                        <a:solidFill>
                          <a:schemeClr val="tx1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Arial" pitchFamily="34" charset="0"/>
                        <a:sym typeface="맑은 고딕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 sz="900">
                          <a:latin typeface="Calibri Light"/>
                          <a:ea typeface="Calibri Light"/>
                          <a:cs typeface="Calibri Light"/>
                          <a:sym typeface="Calibri Light"/>
                        </a:defRPr>
                      </a:pPr>
                      <a:r>
                        <a:rPr kumimoji="0" lang="en-US" altLang="ko-KR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 (</a:t>
                      </a:r>
                      <a:r>
                        <a:rPr kumimoji="0" lang="ko-KR" altLang="en-US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  <a:sym typeface="맑은 고딕"/>
                        </a:rPr>
                        <a:t>現</a:t>
                      </a:r>
                      <a:r>
                        <a:rPr kumimoji="0" lang="en-US" altLang="ko-KR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) </a:t>
                      </a:r>
                      <a:r>
                        <a:rPr kumimoji="0" lang="ko-KR" altLang="en-US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  <a:sym typeface="맑은 고딕"/>
                        </a:rPr>
                        <a:t>기업교육컨설팅 </a:t>
                      </a:r>
                      <a:r>
                        <a:rPr kumimoji="0" lang="ko-KR" altLang="en-US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‘</a:t>
                      </a:r>
                      <a:r>
                        <a:rPr kumimoji="0" lang="ko-KR" altLang="en-US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  <a:sym typeface="맑은 고딕"/>
                        </a:rPr>
                        <a:t>디어빌리티그룹</a:t>
                      </a:r>
                      <a:r>
                        <a:rPr kumimoji="0" lang="ko-KR" altLang="en-US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’ </a:t>
                      </a:r>
                      <a:r>
                        <a:rPr kumimoji="0" lang="ko-KR" altLang="en-US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  <a:sym typeface="맑은 고딕"/>
                        </a:rPr>
                        <a:t>컨설턴트</a:t>
                      </a:r>
                      <a:endParaRPr kumimoji="0" sz="900" b="0" kern="1200" dirty="0">
                        <a:solidFill>
                          <a:schemeClr val="tx1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Arial" pitchFamily="34" charset="0"/>
                        <a:sym typeface="맑은 고딕"/>
                      </a:endParaRPr>
                    </a:p>
                    <a:p>
                      <a:pPr marL="0" algn="l" defTabSz="914400" rtl="0" eaLnBrk="1" latinLnBrk="1" hangingPunct="1">
                        <a:lnSpc>
                          <a:spcPct val="130000"/>
                        </a:lnSpc>
                        <a:buSzPct val="100000"/>
                        <a:buChar char="•"/>
                        <a:defRPr sz="900">
                          <a:latin typeface="Calibri Light"/>
                          <a:ea typeface="Calibri Light"/>
                          <a:cs typeface="Calibri Light"/>
                          <a:sym typeface="Calibri Light"/>
                        </a:defRPr>
                      </a:pP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 (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  <a:sym typeface="맑은 고딕"/>
                        </a:rPr>
                        <a:t>現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)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  <a:sym typeface="맑은 고딕"/>
                        </a:rPr>
                        <a:t>신구대학교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  <a:sym typeface="맑은 고딕"/>
                        </a:rPr>
                        <a:t>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  <a:sym typeface="맑은 고딕"/>
                        </a:rPr>
                        <a:t>교양학부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  <a:sym typeface="맑은 고딕"/>
                        </a:rPr>
                        <a:t>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  <a:sym typeface="맑은 고딕"/>
                        </a:rPr>
                        <a:t>외래교수</a:t>
                      </a:r>
                      <a:endParaRPr kumimoji="0" sz="900" b="0" kern="1200" dirty="0">
                        <a:solidFill>
                          <a:schemeClr val="tx1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Arial" pitchFamily="34" charset="0"/>
                        <a:sym typeface="맑은 고딕"/>
                      </a:endParaRPr>
                    </a:p>
                  </a:txBody>
                  <a:tcPr marL="46800" marR="46800" marT="43200" marB="43200" anchor="ctr" horzOverflow="overflow">
                    <a:lnL w="6350">
                      <a:solidFill>
                        <a:srgbClr val="000000"/>
                      </a:solidFill>
                      <a:prstDash val="sysDot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262626"/>
                      </a:solidFill>
                      <a:prstDash val="sysDot"/>
                    </a:lnT>
                    <a:lnB w="6350">
                      <a:solidFill>
                        <a:srgbClr val="262626"/>
                      </a:solidFill>
                      <a:prstDash val="sysDot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892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sz="1000" b="0" kern="1200" dirty="0" err="1"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자격</a:t>
                      </a:r>
                      <a:endParaRPr sz="1000" b="0" kern="1200" dirty="0">
                        <a:solidFill>
                          <a:schemeClr val="tx1"/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60960" marR="60960" marT="56271" marB="5627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262626"/>
                      </a:solidFill>
                      <a:prstDash val="sysDot"/>
                    </a:lnT>
                    <a:lnB w="6350">
                      <a:solidFill>
                        <a:srgbClr val="262626"/>
                      </a:solidFill>
                      <a:prstDash val="sysDot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30000"/>
                        </a:lnSpc>
                        <a:buSzPct val="100000"/>
                        <a:buChar char="•"/>
                        <a:defRPr sz="900">
                          <a:latin typeface="Calibri Light"/>
                          <a:ea typeface="Calibri Light"/>
                          <a:cs typeface="Calibri Light"/>
                          <a:sym typeface="Calibri Light"/>
                        </a:defRPr>
                      </a:pP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CMK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  <a:sym typeface="맑은 고딕"/>
                        </a:rPr>
                        <a:t>이미지코리아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  <a:sym typeface="맑은 고딕"/>
                        </a:rPr>
                        <a:t>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  <a:sym typeface="맑은 고딕"/>
                        </a:rPr>
                        <a:t>이미지컨설턴트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  <a:sym typeface="맑은 고딕"/>
                        </a:rPr>
                        <a:t>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  <a:sym typeface="맑은 고딕"/>
                        </a:rPr>
                        <a:t>강사과정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  <a:sym typeface="맑은 고딕"/>
                        </a:rPr>
                        <a:t>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  <a:sym typeface="맑은 고딕"/>
                        </a:rPr>
                        <a:t>수료</a:t>
                      </a:r>
                      <a:endParaRPr kumimoji="0" sz="900" b="0" kern="1200" dirty="0">
                        <a:solidFill>
                          <a:schemeClr val="tx1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Arial" pitchFamily="34" charset="0"/>
                        <a:sym typeface="맑은 고딕"/>
                      </a:endParaRPr>
                    </a:p>
                    <a:p>
                      <a:pPr marL="0" algn="l" defTabSz="914400" rtl="0" eaLnBrk="1" latinLnBrk="1" hangingPunct="1">
                        <a:lnSpc>
                          <a:spcPct val="130000"/>
                        </a:lnSpc>
                        <a:buSzPct val="100000"/>
                        <a:buChar char="•"/>
                        <a:defRPr sz="900"/>
                      </a:pP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이미지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컨설턴트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 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  <a:sym typeface="Calibri Light"/>
                        </a:rPr>
                        <a:t>1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급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자격</a:t>
                      </a:r>
                      <a:endParaRPr kumimoji="0" sz="900" b="0" kern="1200" dirty="0">
                        <a:solidFill>
                          <a:schemeClr val="tx1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Arial" pitchFamily="34" charset="0"/>
                        <a:sym typeface="Calibri Light"/>
                      </a:endParaRPr>
                    </a:p>
                    <a:p>
                      <a:pPr marL="0" algn="l" defTabSz="914400" rtl="0" eaLnBrk="1" latinLnBrk="1" hangingPunct="1">
                        <a:lnSpc>
                          <a:spcPct val="130000"/>
                        </a:lnSpc>
                        <a:buSzPct val="100000"/>
                        <a:buChar char="•"/>
                        <a:defRPr sz="900"/>
                      </a:pP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통합적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성향분석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진단도구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 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  <a:sym typeface="Calibri Light"/>
                        </a:rPr>
                        <a:t>ICRU C/NS 2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급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자격</a:t>
                      </a:r>
                      <a:endParaRPr kumimoji="0" sz="900" b="0" kern="1200" dirty="0">
                        <a:solidFill>
                          <a:schemeClr val="tx1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Arial" pitchFamily="34" charset="0"/>
                        <a:sym typeface="Calibri Light"/>
                      </a:endParaRPr>
                    </a:p>
                    <a:p>
                      <a:pPr marL="0" algn="l" defTabSz="914400" rtl="0" eaLnBrk="1" latinLnBrk="1" hangingPunct="1">
                        <a:lnSpc>
                          <a:spcPct val="130000"/>
                        </a:lnSpc>
                        <a:buSzPct val="100000"/>
                        <a:buChar char="•"/>
                        <a:defRPr sz="900">
                          <a:latin typeface="Calibri Light"/>
                          <a:ea typeface="Calibri Light"/>
                          <a:cs typeface="Calibri Light"/>
                          <a:sym typeface="Calibri Light"/>
                        </a:defRPr>
                      </a:pP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  <a:sym typeface="맑은 고딕"/>
                        </a:rPr>
                        <a:t>애니어그램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 2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  <a:sym typeface="맑은 고딕"/>
                        </a:rPr>
                        <a:t>급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  <a:sym typeface="맑은 고딕"/>
                        </a:rPr>
                        <a:t>전문가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  <a:sym typeface="맑은 고딕"/>
                        </a:rPr>
                        <a:t>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  <a:sym typeface="맑은 고딕"/>
                        </a:rPr>
                        <a:t>자격</a:t>
                      </a:r>
                      <a:endParaRPr kumimoji="0" sz="900" b="0" kern="1200" dirty="0">
                        <a:solidFill>
                          <a:schemeClr val="tx1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Arial" pitchFamily="34" charset="0"/>
                        <a:sym typeface="맑은 고딕"/>
                      </a:endParaRPr>
                    </a:p>
                    <a:p>
                      <a:pPr marL="0" algn="l" defTabSz="914400" rtl="0" eaLnBrk="1" latinLnBrk="1" hangingPunct="1">
                        <a:lnSpc>
                          <a:spcPct val="130000"/>
                        </a:lnSpc>
                        <a:buSzPct val="100000"/>
                        <a:buChar char="•"/>
                        <a:defRPr sz="900"/>
                      </a:pP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퍼스널컬러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컨설턴트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전문가과정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수료</a:t>
                      </a:r>
                      <a:endParaRPr kumimoji="0" sz="900" b="0" kern="1200" dirty="0">
                        <a:solidFill>
                          <a:schemeClr val="tx1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Arial" pitchFamily="34" charset="0"/>
                      </a:endParaRPr>
                    </a:p>
                  </a:txBody>
                  <a:tcPr marL="46800" marR="46800" marT="43200" marB="43200" anchor="ctr" horzOverflow="overflow">
                    <a:lnL w="6350">
                      <a:solidFill>
                        <a:srgbClr val="000000"/>
                      </a:solidFill>
                      <a:prstDash val="sysDot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262626"/>
                      </a:solidFill>
                      <a:prstDash val="sysDot"/>
                    </a:lnT>
                    <a:lnB w="6350">
                      <a:solidFill>
                        <a:srgbClr val="262626"/>
                      </a:solidFill>
                      <a:prstDash val="sysDot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60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sz="1000" b="0" kern="1200" dirty="0" err="1"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강의</a:t>
                      </a:r>
                      <a:r>
                        <a:rPr sz="1000" b="0" kern="1200" dirty="0"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 및 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sz="1000" b="0" kern="1200" dirty="0" err="1"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컨설팅</a:t>
                      </a:r>
                      <a:endParaRPr sz="1000" b="0" kern="1200" dirty="0">
                        <a:solidFill>
                          <a:schemeClr val="tx1"/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60960" marR="60960" marT="56271" marB="5627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262626"/>
                      </a:solidFill>
                      <a:prstDash val="sysDot"/>
                    </a:lnT>
                    <a:lnB w="12700">
                      <a:solidFill>
                        <a:srgbClr val="262626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-85725" algn="l" defTabSz="914400" rtl="0" eaLnBrk="1" latinLnBrk="1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buSzPct val="100000"/>
                        <a:buChar char="•"/>
                        <a:defRPr sz="900" b="1"/>
                      </a:pP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[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공기관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/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기업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]</a:t>
                      </a:r>
                      <a:b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</a:b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국민건강보험공단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,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국회의정연수원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,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고용노동부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,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농협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안성교육원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,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한국수력원자력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,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한국농어촌공사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,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서울특별시교육연수원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,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경기도인재개발원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,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부산소방안전본부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,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의정부경찰서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,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관세국경관리연수원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 외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다수</a:t>
                      </a:r>
                      <a:endParaRPr kumimoji="0" sz="900" b="0" kern="1200" dirty="0">
                        <a:solidFill>
                          <a:schemeClr val="tx1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Arial" pitchFamily="34" charset="0"/>
                      </a:endParaRPr>
                    </a:p>
                    <a:p>
                      <a:pPr marL="0" indent="-85725" algn="l" defTabSz="914400" rtl="0" eaLnBrk="1" latinLnBrk="1" hangingPunct="1">
                        <a:lnSpc>
                          <a:spcPct val="130000"/>
                        </a:lnSpc>
                        <a:spcBef>
                          <a:spcPts val="600"/>
                        </a:spcBef>
                        <a:buSzPct val="100000"/>
                        <a:buChar char="•"/>
                        <a:defRPr sz="900" b="1"/>
                      </a:pP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[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기업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]</a:t>
                      </a:r>
                      <a:b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</a:b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현대자동차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,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CJ인재원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,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롯데그룹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,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삼성증권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,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KEB하나은행,아모레퍼시픽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,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신세계그룹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,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한국투자증권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,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파라다이스호텔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, BMW,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루이비통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,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마이클코어스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,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리차드밀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,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SK하이닉스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,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동아일보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,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채널A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,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한화호텔&amp;리조트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,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동원그룹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,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유퍼스트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,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EY한영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 외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다수</a:t>
                      </a:r>
                      <a:endParaRPr kumimoji="0" sz="900" b="0" kern="1200" dirty="0">
                        <a:solidFill>
                          <a:schemeClr val="tx1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Arial" pitchFamily="34" charset="0"/>
                      </a:endParaRPr>
                    </a:p>
                    <a:p>
                      <a:pPr marL="0" indent="-85725" algn="l" defTabSz="914400" rtl="0" eaLnBrk="1" latinLnBrk="1" hangingPunct="1">
                        <a:lnSpc>
                          <a:spcPct val="130000"/>
                        </a:lnSpc>
                        <a:spcBef>
                          <a:spcPts val="600"/>
                        </a:spcBef>
                        <a:buSzPct val="100000"/>
                        <a:buChar char="•"/>
                        <a:defRPr sz="900" b="1"/>
                      </a:pP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[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학교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]</a:t>
                      </a:r>
                      <a:b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</a:b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군산대학교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,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대전과학기술대학교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,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국제통상고등학교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,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안산공업고등학교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,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대전과학기술대학교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,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부산전자공업고등학교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 외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다수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 </a:t>
                      </a:r>
                    </a:p>
                  </a:txBody>
                  <a:tcPr marL="46800" marR="46800" marT="43200" marB="43200" anchor="ctr" horzOverflow="overflow">
                    <a:lnL w="6350">
                      <a:solidFill>
                        <a:srgbClr val="000000"/>
                      </a:solidFill>
                      <a:prstDash val="sysDot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262626"/>
                      </a:solidFill>
                      <a:prstDash val="sysDot"/>
                    </a:lnT>
                    <a:lnB w="12700">
                      <a:solidFill>
                        <a:srgbClr val="26262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3082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8F9F8-7844-E6D6-7F37-82F83E6A1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1E05FC06-4968-8B23-666F-1E85D1E017F1}"/>
              </a:ext>
            </a:extLst>
          </p:cNvPr>
          <p:cNvGrpSpPr/>
          <p:nvPr/>
        </p:nvGrpSpPr>
        <p:grpSpPr>
          <a:xfrm>
            <a:off x="-16690" y="-8837"/>
            <a:ext cx="6874690" cy="9152834"/>
            <a:chOff x="-16690" y="-9573"/>
            <a:chExt cx="6874690" cy="9915570"/>
          </a:xfr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grpSpPr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B6F579AB-921B-ACCF-04F1-0990B831BE89}"/>
                </a:ext>
              </a:extLst>
            </p:cNvPr>
            <p:cNvSpPr/>
            <p:nvPr/>
          </p:nvSpPr>
          <p:spPr>
            <a:xfrm rot="10800000">
              <a:off x="0" y="9449004"/>
              <a:ext cx="6858000" cy="36000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청소년서체" panose="02020603020101020101" pitchFamily="18" charset="-127"/>
                <a:ea typeface="청소년서체" panose="02020603020101020101" pitchFamily="18" charset="-127"/>
                <a:cs typeface="+mn-cs"/>
              </a:endParaRPr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3DF8D01B-B6A9-C1C7-33F2-6827DDCA05D2}"/>
                </a:ext>
              </a:extLst>
            </p:cNvPr>
            <p:cNvSpPr/>
            <p:nvPr/>
          </p:nvSpPr>
          <p:spPr>
            <a:xfrm rot="5400000">
              <a:off x="-4764916" y="4927104"/>
              <a:ext cx="9892931" cy="45719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청소년서체" panose="02020603020101020101" pitchFamily="18" charset="-127"/>
                <a:ea typeface="청소년서체" panose="02020603020101020101" pitchFamily="18" charset="-127"/>
                <a:cs typeface="+mn-cs"/>
              </a:endParaRPr>
            </a:p>
          </p:txBody>
        </p:sp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03CD6952-141E-CC18-49FE-EF092C65E25F}"/>
                </a:ext>
              </a:extLst>
            </p:cNvPr>
            <p:cNvSpPr/>
            <p:nvPr/>
          </p:nvSpPr>
          <p:spPr>
            <a:xfrm rot="16200000">
              <a:off x="-4897691" y="4871428"/>
              <a:ext cx="9906002" cy="144000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정부상징 부처명_16040911" panose="02020503020101020101" pitchFamily="18" charset="-127"/>
                <a:ea typeface="정부상징 부처명_16040911" panose="02020503020101020101" pitchFamily="18" charset="-127"/>
                <a:cs typeface="+mn-cs"/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7273387E-BB43-85D5-A8DB-0FC18FF39023}"/>
                </a:ext>
              </a:extLst>
            </p:cNvPr>
            <p:cNvSpPr/>
            <p:nvPr/>
          </p:nvSpPr>
          <p:spPr>
            <a:xfrm>
              <a:off x="0" y="9521370"/>
              <a:ext cx="6858000" cy="384627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정부상징 부처명_16040911" panose="02020503020101020101" pitchFamily="18" charset="-127"/>
                <a:ea typeface="정부상징 부처명_16040911" panose="02020503020101020101" pitchFamily="18" charset="-127"/>
                <a:cs typeface="+mn-cs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58FA20A5-EC1C-F437-BFFC-1DCCBB2AE28A}"/>
              </a:ext>
            </a:extLst>
          </p:cNvPr>
          <p:cNvGrpSpPr/>
          <p:nvPr/>
        </p:nvGrpSpPr>
        <p:grpSpPr>
          <a:xfrm>
            <a:off x="723292" y="404033"/>
            <a:ext cx="180000" cy="166154"/>
            <a:chOff x="723292" y="437703"/>
            <a:chExt cx="180000" cy="180000"/>
          </a:xfrm>
        </p:grpSpPr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935FA77A-8C9D-572C-C5BC-757BBDC9C9A0}"/>
                </a:ext>
              </a:extLst>
            </p:cNvPr>
            <p:cNvCxnSpPr/>
            <p:nvPr/>
          </p:nvCxnSpPr>
          <p:spPr>
            <a:xfrm>
              <a:off x="723292" y="527702"/>
              <a:ext cx="180000" cy="0"/>
            </a:xfrm>
            <a:prstGeom prst="line">
              <a:avLst/>
            </a:prstGeom>
            <a:ln w="28575">
              <a:solidFill>
                <a:srgbClr val="3F3C5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9022AA7C-CB9D-4096-A305-F77A80A5E625}"/>
                </a:ext>
              </a:extLst>
            </p:cNvPr>
            <p:cNvCxnSpPr/>
            <p:nvPr/>
          </p:nvCxnSpPr>
          <p:spPr>
            <a:xfrm rot="16200000">
              <a:off x="723292" y="527703"/>
              <a:ext cx="180000" cy="0"/>
            </a:xfrm>
            <a:prstGeom prst="line">
              <a:avLst/>
            </a:prstGeom>
            <a:ln w="28575">
              <a:solidFill>
                <a:srgbClr val="3F3C5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D1DCE1C6-44A7-9786-0A8C-805374B20706}"/>
              </a:ext>
            </a:extLst>
          </p:cNvPr>
          <p:cNvSpPr txBox="1"/>
          <p:nvPr/>
        </p:nvSpPr>
        <p:spPr>
          <a:xfrm>
            <a:off x="5027821" y="398042"/>
            <a:ext cx="14526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1. </a:t>
            </a:r>
            <a:r>
              <a:rPr kumimoji="0" lang="ko-KR" altLang="en-US" sz="20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교육 안내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33F4DEF-9D9F-8727-8260-1E8699668D31}"/>
              </a:ext>
            </a:extLst>
          </p:cNvPr>
          <p:cNvSpPr txBox="1"/>
          <p:nvPr/>
        </p:nvSpPr>
        <p:spPr>
          <a:xfrm>
            <a:off x="594168" y="972808"/>
            <a:ext cx="19159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컨설턴트 프로필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88DA6B-9172-40FB-CE09-34E92E96888A}"/>
              </a:ext>
            </a:extLst>
          </p:cNvPr>
          <p:cNvSpPr txBox="1"/>
          <p:nvPr/>
        </p:nvSpPr>
        <p:spPr>
          <a:xfrm>
            <a:off x="968805" y="3028629"/>
            <a:ext cx="82907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조 </a:t>
            </a:r>
            <a:r>
              <a:rPr kumimoji="0" lang="ko-KR" alt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혜나</a:t>
            </a:r>
            <a:endParaRPr kumimoji="0" lang="ko-KR" alt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타원 1">
            <a:extLst>
              <a:ext uri="{FF2B5EF4-FFF2-40B4-BE49-F238E27FC236}">
                <a16:creationId xmlns:a16="http://schemas.microsoft.com/office/drawing/2014/main" id="{DD1905F1-86E6-3C3E-FACB-9266F901BB3B}"/>
              </a:ext>
            </a:extLst>
          </p:cNvPr>
          <p:cNvSpPr/>
          <p:nvPr/>
        </p:nvSpPr>
        <p:spPr>
          <a:xfrm>
            <a:off x="502885" y="1710459"/>
            <a:ext cx="1666528" cy="1538334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맑은 고딕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+mn-ea"/>
              <a:cs typeface="+mn-cs"/>
              <a:sym typeface="맑은 고딕"/>
            </a:endParaRPr>
          </a:p>
        </p:txBody>
      </p:sp>
      <p:graphicFrame>
        <p:nvGraphicFramePr>
          <p:cNvPr id="16" name="표 2">
            <a:extLst>
              <a:ext uri="{FF2B5EF4-FFF2-40B4-BE49-F238E27FC236}">
                <a16:creationId xmlns:a16="http://schemas.microsoft.com/office/drawing/2014/main" id="{17E7D574-1F40-02FD-0D2C-3EDD0278AC12}"/>
              </a:ext>
            </a:extLst>
          </p:cNvPr>
          <p:cNvGraphicFramePr/>
          <p:nvPr/>
        </p:nvGraphicFramePr>
        <p:xfrm>
          <a:off x="2346412" y="1710460"/>
          <a:ext cx="4230235" cy="6533097"/>
        </p:xfrm>
        <a:graphic>
          <a:graphicData uri="http://schemas.openxmlformats.org/drawingml/2006/table">
            <a:tbl>
              <a:tblPr firstRow="1"/>
              <a:tblGrid>
                <a:gridCol w="8778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3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910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sz="1000" b="0" kern="1200" dirty="0" err="1"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학력</a:t>
                      </a:r>
                      <a:endParaRPr sz="1000" b="0" kern="1200" dirty="0">
                        <a:solidFill>
                          <a:schemeClr val="tx1"/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60960" marR="60960" marT="56271" marB="5627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12700">
                      <a:solidFill>
                        <a:srgbClr val="262626"/>
                      </a:solidFill>
                    </a:lnT>
                    <a:lnB w="6350">
                      <a:solidFill>
                        <a:srgbClr val="262626"/>
                      </a:solidFill>
                      <a:prstDash val="sysDot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-85725" algn="l" defTabSz="914400" rtl="0" eaLnBrk="1" latinLnBrk="1" hangingPunct="1">
                        <a:lnSpc>
                          <a:spcPct val="130000"/>
                        </a:lnSpc>
                        <a:buSzPct val="100000"/>
                        <a:buChar char="•"/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상명대학교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실내디자인학과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학사</a:t>
                      </a:r>
                      <a:endParaRPr kumimoji="0" sz="900" b="0" kern="1200" dirty="0">
                        <a:solidFill>
                          <a:schemeClr val="tx1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Arial" pitchFamily="34" charset="0"/>
                      </a:endParaRPr>
                    </a:p>
                  </a:txBody>
                  <a:tcPr marL="46800" marR="46800" marT="43200" marB="43200" anchor="ctr" horzOverflow="overflow">
                    <a:lnL w="6350">
                      <a:solidFill>
                        <a:srgbClr val="000000"/>
                      </a:solidFill>
                      <a:prstDash val="sysDot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262626"/>
                      </a:solidFill>
                    </a:lnT>
                    <a:lnB w="6350">
                      <a:solidFill>
                        <a:srgbClr val="262626"/>
                      </a:solidFill>
                      <a:prstDash val="sysDot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86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sz="1000" b="0" kern="1200" dirty="0" err="1"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경력</a:t>
                      </a:r>
                      <a:endParaRPr sz="1000" b="0" kern="1200" dirty="0">
                        <a:solidFill>
                          <a:schemeClr val="tx1"/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60960" marR="60960" marT="56271" marB="5627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262626"/>
                      </a:solidFill>
                      <a:prstDash val="sysDot"/>
                    </a:lnT>
                    <a:lnB w="6350">
                      <a:solidFill>
                        <a:srgbClr val="262626"/>
                      </a:solidFill>
                      <a:prstDash val="sysDot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30000"/>
                        </a:lnSpc>
                        <a:buSzPct val="100000"/>
                        <a:buChar char="•"/>
                        <a:defRPr sz="900">
                          <a:latin typeface="Calibri Light"/>
                          <a:ea typeface="Calibri Light"/>
                          <a:cs typeface="Calibri Light"/>
                          <a:sym typeface="Calibri Light"/>
                        </a:defRPr>
                      </a:pP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 (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  <a:sym typeface="맑은 고딕"/>
                        </a:rPr>
                        <a:t>現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)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CMK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  <a:sym typeface="맑은 고딕"/>
                        </a:rPr>
                        <a:t>이미지코리아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  <a:sym typeface="맑은 고딕"/>
                        </a:rPr>
                        <a:t>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  <a:sym typeface="맑은 고딕"/>
                        </a:rPr>
                        <a:t>수석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  <a:sym typeface="맑은 고딕"/>
                        </a:rPr>
                        <a:t>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  <a:sym typeface="맑은 고딕"/>
                        </a:rPr>
                        <a:t>연구원</a:t>
                      </a:r>
                      <a:endParaRPr kumimoji="0" lang="en-US" sz="900" b="0" kern="1200" dirty="0">
                        <a:solidFill>
                          <a:schemeClr val="tx1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Arial" pitchFamily="34" charset="0"/>
                        <a:sym typeface="맑은 고딕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 sz="900">
                          <a:latin typeface="Calibri Light"/>
                          <a:ea typeface="Calibri Light"/>
                          <a:cs typeface="Calibri Light"/>
                          <a:sym typeface="Calibri Light"/>
                        </a:defRPr>
                      </a:pPr>
                      <a:r>
                        <a:rPr kumimoji="0" lang="en-US" altLang="ko-KR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 (</a:t>
                      </a:r>
                      <a:r>
                        <a:rPr kumimoji="0" lang="ko-KR" altLang="en-US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  <a:sym typeface="맑은 고딕"/>
                        </a:rPr>
                        <a:t>現</a:t>
                      </a:r>
                      <a:r>
                        <a:rPr kumimoji="0" lang="en-US" altLang="ko-KR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) </a:t>
                      </a:r>
                      <a:r>
                        <a:rPr kumimoji="0" lang="ko-KR" altLang="en-US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  <a:sym typeface="맑은 고딕"/>
                        </a:rPr>
                        <a:t>기업교육컨설팅 </a:t>
                      </a:r>
                      <a:r>
                        <a:rPr kumimoji="0" lang="ko-KR" altLang="en-US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‘</a:t>
                      </a:r>
                      <a:r>
                        <a:rPr kumimoji="0" lang="ko-KR" altLang="en-US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  <a:sym typeface="맑은 고딕"/>
                        </a:rPr>
                        <a:t>디어빌리티그룹</a:t>
                      </a:r>
                      <a:r>
                        <a:rPr kumimoji="0" lang="ko-KR" altLang="en-US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’ </a:t>
                      </a:r>
                      <a:r>
                        <a:rPr kumimoji="0" lang="ko-KR" altLang="en-US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  <a:sym typeface="맑은 고딕"/>
                        </a:rPr>
                        <a:t>컨설턴트</a:t>
                      </a:r>
                      <a:endParaRPr kumimoji="0" sz="900" b="0" kern="1200" dirty="0">
                        <a:solidFill>
                          <a:schemeClr val="tx1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Arial" pitchFamily="34" charset="0"/>
                        <a:sym typeface="맑은 고딕"/>
                      </a:endParaRPr>
                    </a:p>
                    <a:p>
                      <a:pPr marL="0" algn="l" defTabSz="914400" rtl="0" eaLnBrk="1" latinLnBrk="1" hangingPunct="1">
                        <a:lnSpc>
                          <a:spcPct val="130000"/>
                        </a:lnSpc>
                        <a:buSzPct val="100000"/>
                        <a:buChar char="•"/>
                        <a:defRPr sz="900">
                          <a:latin typeface="Calibri Light"/>
                          <a:ea typeface="Calibri Light"/>
                          <a:cs typeface="Calibri Light"/>
                          <a:sym typeface="Calibri Light"/>
                        </a:defRPr>
                      </a:pP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 (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  <a:sym typeface="맑은 고딕"/>
                        </a:rPr>
                        <a:t>現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)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  <a:sym typeface="맑은 고딕"/>
                        </a:rPr>
                        <a:t>신구대학교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  <a:sym typeface="맑은 고딕"/>
                        </a:rPr>
                        <a:t>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  <a:sym typeface="맑은 고딕"/>
                        </a:rPr>
                        <a:t>교양학부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  <a:sym typeface="맑은 고딕"/>
                        </a:rPr>
                        <a:t>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  <a:sym typeface="맑은 고딕"/>
                        </a:rPr>
                        <a:t>외래교수</a:t>
                      </a:r>
                      <a:endParaRPr kumimoji="0" sz="900" b="0" kern="1200" dirty="0">
                        <a:solidFill>
                          <a:schemeClr val="tx1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Arial" pitchFamily="34" charset="0"/>
                        <a:sym typeface="맑은 고딕"/>
                      </a:endParaRPr>
                    </a:p>
                  </a:txBody>
                  <a:tcPr marL="46800" marR="46800" marT="43200" marB="43200" anchor="ctr" horzOverflow="overflow">
                    <a:lnL w="6350">
                      <a:solidFill>
                        <a:srgbClr val="000000"/>
                      </a:solidFill>
                      <a:prstDash val="sysDot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262626"/>
                      </a:solidFill>
                      <a:prstDash val="sysDot"/>
                    </a:lnT>
                    <a:lnB w="6350">
                      <a:solidFill>
                        <a:srgbClr val="262626"/>
                      </a:solidFill>
                      <a:prstDash val="sysDot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892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sz="1000" b="0" kern="1200" dirty="0" err="1"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자격</a:t>
                      </a:r>
                      <a:endParaRPr sz="1000" b="0" kern="1200" dirty="0">
                        <a:solidFill>
                          <a:schemeClr val="tx1"/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60960" marR="60960" marT="56271" marB="5627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262626"/>
                      </a:solidFill>
                      <a:prstDash val="sysDot"/>
                    </a:lnT>
                    <a:lnB w="6350">
                      <a:solidFill>
                        <a:srgbClr val="262626"/>
                      </a:solidFill>
                      <a:prstDash val="sysDot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30000"/>
                        </a:lnSpc>
                        <a:buSzPct val="100000"/>
                        <a:buChar char="•"/>
                        <a:defRPr sz="900">
                          <a:latin typeface="Calibri Light"/>
                          <a:ea typeface="Calibri Light"/>
                          <a:cs typeface="Calibri Light"/>
                          <a:sym typeface="Calibri Light"/>
                        </a:defRPr>
                      </a:pP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CMK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  <a:sym typeface="맑은 고딕"/>
                        </a:rPr>
                        <a:t>이미지코리아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  <a:sym typeface="맑은 고딕"/>
                        </a:rPr>
                        <a:t>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  <a:sym typeface="맑은 고딕"/>
                        </a:rPr>
                        <a:t>이미지컨설턴트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  <a:sym typeface="맑은 고딕"/>
                        </a:rPr>
                        <a:t>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  <a:sym typeface="맑은 고딕"/>
                        </a:rPr>
                        <a:t>강사과정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  <a:sym typeface="맑은 고딕"/>
                        </a:rPr>
                        <a:t>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  <a:sym typeface="맑은 고딕"/>
                        </a:rPr>
                        <a:t>수료</a:t>
                      </a:r>
                      <a:endParaRPr kumimoji="0" sz="900" b="0" kern="1200" dirty="0">
                        <a:solidFill>
                          <a:schemeClr val="tx1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Arial" pitchFamily="34" charset="0"/>
                        <a:sym typeface="맑은 고딕"/>
                      </a:endParaRPr>
                    </a:p>
                    <a:p>
                      <a:pPr marL="0" algn="l" defTabSz="914400" rtl="0" eaLnBrk="1" latinLnBrk="1" hangingPunct="1">
                        <a:lnSpc>
                          <a:spcPct val="130000"/>
                        </a:lnSpc>
                        <a:buSzPct val="100000"/>
                        <a:buChar char="•"/>
                        <a:defRPr sz="900"/>
                      </a:pP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이미지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컨설턴트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 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  <a:sym typeface="Calibri Light"/>
                        </a:rPr>
                        <a:t>1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급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자격</a:t>
                      </a:r>
                      <a:endParaRPr kumimoji="0" sz="900" b="0" kern="1200" dirty="0">
                        <a:solidFill>
                          <a:schemeClr val="tx1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Arial" pitchFamily="34" charset="0"/>
                        <a:sym typeface="Calibri Light"/>
                      </a:endParaRPr>
                    </a:p>
                    <a:p>
                      <a:pPr marL="0" algn="l" defTabSz="914400" rtl="0" eaLnBrk="1" latinLnBrk="1" hangingPunct="1">
                        <a:lnSpc>
                          <a:spcPct val="130000"/>
                        </a:lnSpc>
                        <a:buSzPct val="100000"/>
                        <a:buChar char="•"/>
                        <a:defRPr sz="900"/>
                      </a:pP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통합적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성향분석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진단도구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 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  <a:sym typeface="Calibri Light"/>
                        </a:rPr>
                        <a:t>ICRU C/NS 2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급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자격</a:t>
                      </a:r>
                      <a:endParaRPr kumimoji="0" sz="900" b="0" kern="1200" dirty="0">
                        <a:solidFill>
                          <a:schemeClr val="tx1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Arial" pitchFamily="34" charset="0"/>
                        <a:sym typeface="Calibri Light"/>
                      </a:endParaRPr>
                    </a:p>
                    <a:p>
                      <a:pPr marL="0" algn="l" defTabSz="914400" rtl="0" eaLnBrk="1" latinLnBrk="1" hangingPunct="1">
                        <a:lnSpc>
                          <a:spcPct val="130000"/>
                        </a:lnSpc>
                        <a:buSzPct val="100000"/>
                        <a:buChar char="•"/>
                        <a:defRPr sz="900">
                          <a:latin typeface="Calibri Light"/>
                          <a:ea typeface="Calibri Light"/>
                          <a:cs typeface="Calibri Light"/>
                          <a:sym typeface="Calibri Light"/>
                        </a:defRPr>
                      </a:pP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  <a:sym typeface="맑은 고딕"/>
                        </a:rPr>
                        <a:t>애니어그램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 2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  <a:sym typeface="맑은 고딕"/>
                        </a:rPr>
                        <a:t>급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  <a:sym typeface="맑은 고딕"/>
                        </a:rPr>
                        <a:t>전문가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  <a:sym typeface="맑은 고딕"/>
                        </a:rPr>
                        <a:t>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  <a:sym typeface="맑은 고딕"/>
                        </a:rPr>
                        <a:t>자격</a:t>
                      </a:r>
                      <a:endParaRPr kumimoji="0" sz="900" b="0" kern="1200" dirty="0">
                        <a:solidFill>
                          <a:schemeClr val="tx1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Arial" pitchFamily="34" charset="0"/>
                        <a:sym typeface="맑은 고딕"/>
                      </a:endParaRPr>
                    </a:p>
                    <a:p>
                      <a:pPr marL="0" algn="l" defTabSz="914400" rtl="0" eaLnBrk="1" latinLnBrk="1" hangingPunct="1">
                        <a:lnSpc>
                          <a:spcPct val="130000"/>
                        </a:lnSpc>
                        <a:buSzPct val="100000"/>
                        <a:buChar char="•"/>
                        <a:defRPr sz="900"/>
                      </a:pP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퍼스널컬러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컨설턴트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전문가과정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수료</a:t>
                      </a:r>
                      <a:endParaRPr kumimoji="0" sz="900" b="0" kern="1200" dirty="0">
                        <a:solidFill>
                          <a:schemeClr val="tx1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Arial" pitchFamily="34" charset="0"/>
                      </a:endParaRPr>
                    </a:p>
                  </a:txBody>
                  <a:tcPr marL="46800" marR="46800" marT="43200" marB="43200" anchor="ctr" horzOverflow="overflow">
                    <a:lnL w="6350">
                      <a:solidFill>
                        <a:srgbClr val="000000"/>
                      </a:solidFill>
                      <a:prstDash val="sysDot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262626"/>
                      </a:solidFill>
                      <a:prstDash val="sysDot"/>
                    </a:lnT>
                    <a:lnB w="6350">
                      <a:solidFill>
                        <a:srgbClr val="262626"/>
                      </a:solidFill>
                      <a:prstDash val="sysDot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60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sz="1000" b="0" kern="1200" dirty="0" err="1"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강의</a:t>
                      </a:r>
                      <a:r>
                        <a:rPr sz="1000" b="0" kern="1200" dirty="0"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 및 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sz="1000" b="0" kern="1200" dirty="0" err="1"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컨설팅</a:t>
                      </a:r>
                      <a:endParaRPr sz="1000" b="0" kern="1200" dirty="0">
                        <a:solidFill>
                          <a:schemeClr val="tx1"/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60960" marR="60960" marT="56271" marB="5627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262626"/>
                      </a:solidFill>
                      <a:prstDash val="sysDot"/>
                    </a:lnT>
                    <a:lnB w="12700">
                      <a:solidFill>
                        <a:srgbClr val="262626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-85725" algn="l" defTabSz="914400" rtl="0" eaLnBrk="1" latinLnBrk="1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buSzPct val="100000"/>
                        <a:buChar char="•"/>
                        <a:defRPr sz="900" b="1"/>
                      </a:pP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[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공기관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/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기업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]</a:t>
                      </a:r>
                      <a:b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</a:b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국민건강보험공단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,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국회의정연수원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,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고용노동부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,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농협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안성교육원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,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한국수력원자력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,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한국농어촌공사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,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서울특별시교육연수원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,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경기도인재개발원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,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부산소방안전본부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,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의정부경찰서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,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관세국경관리연수원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 외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다수</a:t>
                      </a:r>
                      <a:endParaRPr kumimoji="0" sz="900" b="0" kern="1200" dirty="0">
                        <a:solidFill>
                          <a:schemeClr val="tx1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Arial" pitchFamily="34" charset="0"/>
                      </a:endParaRPr>
                    </a:p>
                    <a:p>
                      <a:pPr marL="0" indent="-85725" algn="l" defTabSz="914400" rtl="0" eaLnBrk="1" latinLnBrk="1" hangingPunct="1">
                        <a:lnSpc>
                          <a:spcPct val="130000"/>
                        </a:lnSpc>
                        <a:spcBef>
                          <a:spcPts val="600"/>
                        </a:spcBef>
                        <a:buSzPct val="100000"/>
                        <a:buChar char="•"/>
                        <a:defRPr sz="900" b="1"/>
                      </a:pP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[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기업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]</a:t>
                      </a:r>
                      <a:b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</a:b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현대자동차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,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CJ인재원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,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롯데그룹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,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삼성증권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,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KEB하나은행,아모레퍼시픽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,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신세계그룹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,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한국투자증권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,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파라다이스호텔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, BMW,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루이비통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,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마이클코어스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,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리차드밀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,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SK하이닉스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,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동아일보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,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채널A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,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한화호텔&amp;리조트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,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동원그룹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,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유퍼스트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,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EY한영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 외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다수</a:t>
                      </a:r>
                      <a:endParaRPr kumimoji="0" sz="900" b="0" kern="1200" dirty="0">
                        <a:solidFill>
                          <a:schemeClr val="tx1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Arial" pitchFamily="34" charset="0"/>
                      </a:endParaRPr>
                    </a:p>
                    <a:p>
                      <a:pPr marL="0" indent="-85725" algn="l" defTabSz="914400" rtl="0" eaLnBrk="1" latinLnBrk="1" hangingPunct="1">
                        <a:lnSpc>
                          <a:spcPct val="130000"/>
                        </a:lnSpc>
                        <a:spcBef>
                          <a:spcPts val="600"/>
                        </a:spcBef>
                        <a:buSzPct val="100000"/>
                        <a:buChar char="•"/>
                        <a:defRPr sz="900" b="1"/>
                      </a:pP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[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학교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]</a:t>
                      </a:r>
                      <a:b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</a:b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군산대학교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,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대전과학기술대학교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,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국제통상고등학교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,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안산공업고등학교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,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대전과학기술대학교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,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부산전자공업고등학교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 외 </a:t>
                      </a:r>
                      <a:r>
                        <a:rPr kumimoji="0" sz="900" b="0" kern="1200" dirty="0" err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다수</a:t>
                      </a:r>
                      <a:r>
                        <a:rPr kumimoji="0" sz="900" b="0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" pitchFamily="34" charset="0"/>
                        </a:rPr>
                        <a:t> </a:t>
                      </a:r>
                    </a:p>
                  </a:txBody>
                  <a:tcPr marL="46800" marR="46800" marT="43200" marB="43200" anchor="ctr" horzOverflow="overflow">
                    <a:lnL w="6350">
                      <a:solidFill>
                        <a:srgbClr val="000000"/>
                      </a:solidFill>
                      <a:prstDash val="sysDot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262626"/>
                      </a:solidFill>
                      <a:prstDash val="sysDot"/>
                    </a:lnT>
                    <a:lnB w="12700">
                      <a:solidFill>
                        <a:srgbClr val="26262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3098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-16690" y="-8837"/>
            <a:ext cx="6874690" cy="9152834"/>
            <a:chOff x="-16690" y="-9573"/>
            <a:chExt cx="6874690" cy="9915570"/>
          </a:xfr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grpSpPr>
        <p:sp>
          <p:nvSpPr>
            <p:cNvPr id="32" name="직사각형 31"/>
            <p:cNvSpPr/>
            <p:nvPr/>
          </p:nvSpPr>
          <p:spPr>
            <a:xfrm rot="10800000">
              <a:off x="0" y="9449004"/>
              <a:ext cx="6858000" cy="36000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 dirty="0">
                <a:solidFill>
                  <a:schemeClr val="bg1"/>
                </a:solidFill>
                <a:latin typeface="청소년서체" panose="02020603020101020101" pitchFamily="18" charset="-127"/>
                <a:ea typeface="청소년서체" panose="02020603020101020101" pitchFamily="18" charset="-127"/>
              </a:endParaRPr>
            </a:p>
          </p:txBody>
        </p:sp>
        <p:sp>
          <p:nvSpPr>
            <p:cNvPr id="97" name="직사각형 96"/>
            <p:cNvSpPr/>
            <p:nvPr/>
          </p:nvSpPr>
          <p:spPr>
            <a:xfrm rot="5400000">
              <a:off x="-4764916" y="4927104"/>
              <a:ext cx="9892931" cy="45719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 dirty="0">
                <a:solidFill>
                  <a:schemeClr val="bg1"/>
                </a:solidFill>
                <a:latin typeface="청소년서체" panose="02020603020101020101" pitchFamily="18" charset="-127"/>
                <a:ea typeface="청소년서체" panose="02020603020101020101" pitchFamily="18" charset="-127"/>
              </a:endParaRPr>
            </a:p>
          </p:txBody>
        </p:sp>
        <p:sp>
          <p:nvSpPr>
            <p:cNvPr id="96" name="직사각형 95"/>
            <p:cNvSpPr/>
            <p:nvPr/>
          </p:nvSpPr>
          <p:spPr>
            <a:xfrm rot="16200000">
              <a:off x="-4897691" y="4871428"/>
              <a:ext cx="9906002" cy="144000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ko-KR" sz="1400" dirty="0">
                <a:solidFill>
                  <a:prstClr val="white"/>
                </a:solidFill>
                <a:latin typeface="정부상징 부처명_16040911" panose="02020503020101020101" pitchFamily="18" charset="-127"/>
                <a:ea typeface="정부상징 부처명_16040911" panose="02020503020101020101" pitchFamily="18" charset="-127"/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0" y="9521370"/>
              <a:ext cx="6858000" cy="384627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>
                <a:solidFill>
                  <a:schemeClr val="bg1"/>
                </a:solidFill>
                <a:latin typeface="정부상징 부처명_16040911" panose="02020503020101020101" pitchFamily="18" charset="-127"/>
                <a:ea typeface="정부상징 부처명_16040911" panose="02020503020101020101" pitchFamily="18" charset="-127"/>
              </a:endParaRPr>
            </a:p>
          </p:txBody>
        </p:sp>
      </p:grp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390628"/>
              </p:ext>
            </p:extLst>
          </p:nvPr>
        </p:nvGraphicFramePr>
        <p:xfrm>
          <a:off x="397900" y="1118983"/>
          <a:ext cx="6266608" cy="61382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9541">
                  <a:extLst>
                    <a:ext uri="{9D8B030D-6E8A-4147-A177-3AD203B41FA5}">
                      <a16:colId xmlns:a16="http://schemas.microsoft.com/office/drawing/2014/main" val="2839427341"/>
                    </a:ext>
                  </a:extLst>
                </a:gridCol>
                <a:gridCol w="539767">
                  <a:extLst>
                    <a:ext uri="{9D8B030D-6E8A-4147-A177-3AD203B41FA5}">
                      <a16:colId xmlns:a16="http://schemas.microsoft.com/office/drawing/2014/main" val="58516974"/>
                    </a:ext>
                  </a:extLst>
                </a:gridCol>
                <a:gridCol w="1828227">
                  <a:extLst>
                    <a:ext uri="{9D8B030D-6E8A-4147-A177-3AD203B41FA5}">
                      <a16:colId xmlns:a16="http://schemas.microsoft.com/office/drawing/2014/main" val="1406392507"/>
                    </a:ext>
                  </a:extLst>
                </a:gridCol>
                <a:gridCol w="3239073">
                  <a:extLst>
                    <a:ext uri="{9D8B030D-6E8A-4147-A177-3AD203B41FA5}">
                      <a16:colId xmlns:a16="http://schemas.microsoft.com/office/drawing/2014/main" val="3531327233"/>
                    </a:ext>
                  </a:extLst>
                </a:gridCol>
              </a:tblGrid>
              <a:tr h="32289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일차</a:t>
                      </a:r>
                    </a:p>
                  </a:txBody>
                  <a:tcPr marT="42203" marB="42203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시간</a:t>
                      </a:r>
                    </a:p>
                  </a:txBody>
                  <a:tcPr marT="42203" marB="42203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모듈</a:t>
                      </a:r>
                    </a:p>
                  </a:txBody>
                  <a:tcPr marT="42203" marB="42203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세부내용</a:t>
                      </a:r>
                    </a:p>
                  </a:txBody>
                  <a:tcPr marT="42203" marB="42203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0521137"/>
                  </a:ext>
                </a:extLst>
              </a:tr>
              <a:tr h="527538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일차</a:t>
                      </a:r>
                    </a:p>
                  </a:txBody>
                  <a:tcPr marT="42203" marB="42203" anchor="ctr"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10:00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-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10:10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T="42203" marB="42203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ORIENTATION</a:t>
                      </a:r>
                    </a:p>
                    <a:p>
                      <a:pPr algn="ctr" latinLnBrk="1"/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en-US" altLang="ko-KR" sz="1000" b="0" baseline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b="0" baseline="0" dirty="0">
                          <a:latin typeface="+mn-ea"/>
                          <a:ea typeface="+mn-ea"/>
                        </a:rPr>
                        <a:t>환영 인사 및 과정 소개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marT="42203" marB="42203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endParaRPr kumimoji="1" lang="ko-KR" altLang="en-US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469156"/>
                  </a:ext>
                </a:extLst>
              </a:tr>
              <a:tr h="92450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10:10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-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13:00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T="42203" marB="42203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71450" indent="-171450" latinLnBrk="1">
                        <a:buFont typeface="Arial" pitchFamily="34" charset="0"/>
                        <a:buChar char="•"/>
                      </a:pPr>
                      <a:r>
                        <a:rPr lang="ko-KR" altLang="en-US" sz="10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강사</a:t>
                      </a:r>
                      <a:r>
                        <a:rPr lang="ko-KR" altLang="en-US" sz="10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양성 개요</a:t>
                      </a:r>
                      <a:endParaRPr lang="en-US" altLang="ko-KR" sz="1000" b="0" kern="1200" baseline="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 latinLnBrk="1">
                        <a:buFont typeface="Arial" pitchFamily="34" charset="0"/>
                        <a:buChar char="•"/>
                      </a:pPr>
                      <a:r>
                        <a:rPr lang="ko-KR" altLang="en-US" sz="1000" b="0" kern="1200" baseline="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테이스트</a:t>
                      </a:r>
                      <a:r>
                        <a:rPr lang="ko-KR" altLang="en-US" sz="10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이미지스케일 개요 설명</a:t>
                      </a:r>
                      <a:endParaRPr lang="en-US" altLang="ko-KR" sz="1000" b="0" kern="1200" baseline="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 latinLnBrk="1">
                        <a:buFont typeface="Arial" pitchFamily="34" charset="0"/>
                        <a:buChar char="•"/>
                      </a:pPr>
                      <a:r>
                        <a:rPr lang="ko-KR" altLang="en-US" sz="1000" b="0" kern="1200" baseline="0" dirty="0">
                          <a:solidFill>
                            <a:srgbClr val="7030A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패션과 얼굴 </a:t>
                      </a:r>
                      <a:r>
                        <a:rPr lang="en-US" altLang="ko-KR" sz="1000" b="0" kern="1200" baseline="0" dirty="0">
                          <a:solidFill>
                            <a:srgbClr val="7030A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ko-KR" sz="10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_ </a:t>
                      </a:r>
                      <a:r>
                        <a:rPr lang="ko-KR" altLang="en-US" sz="1000" b="0" kern="1200" baseline="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큐트</a:t>
                      </a:r>
                      <a:r>
                        <a:rPr lang="en-US" altLang="ko-KR" sz="10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로맨틱</a:t>
                      </a:r>
                      <a:r>
                        <a:rPr lang="en-US" altLang="ko-KR" sz="10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노블</a:t>
                      </a:r>
                      <a:r>
                        <a:rPr lang="en-US" altLang="ko-KR" sz="10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소프트모던의 이해와 설명</a:t>
                      </a:r>
                      <a:endParaRPr lang="en-US" altLang="ko-KR" sz="1000" b="0" kern="1200" baseline="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buFont typeface="Arial" pitchFamily="34" charset="0"/>
                        <a:buNone/>
                      </a:pPr>
                      <a:r>
                        <a:rPr lang="en-US" altLang="ko-KR" sz="10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&lt;</a:t>
                      </a:r>
                      <a:r>
                        <a:rPr lang="ko-KR" altLang="en-US" sz="10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실습</a:t>
                      </a:r>
                      <a:r>
                        <a:rPr lang="en-US" altLang="ko-KR" sz="10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&gt; 4 </a:t>
                      </a:r>
                      <a:r>
                        <a:rPr lang="ko-KR" altLang="en-US" sz="10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타입의 콜라주</a:t>
                      </a:r>
                      <a:endParaRPr lang="en-US" altLang="ko-KR" sz="1000" b="0" kern="1200" baseline="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lnSpc>
                          <a:spcPct val="130000"/>
                        </a:lnSpc>
                      </a:pPr>
                      <a:endParaRPr lang="en-US" altLang="ko-KR" sz="1050" b="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211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LUNCH</a:t>
                      </a:r>
                      <a:r>
                        <a:rPr lang="en-US" altLang="ko-KR" sz="1000" b="0" baseline="0" dirty="0">
                          <a:latin typeface="+mn-ea"/>
                          <a:ea typeface="+mn-ea"/>
                        </a:rPr>
                        <a:t> TIME</a:t>
                      </a:r>
                      <a:endParaRPr lang="en-US" altLang="ko-KR" sz="1000" b="0" dirty="0">
                        <a:latin typeface="+mn-ea"/>
                        <a:ea typeface="+mn-ea"/>
                      </a:endParaRPr>
                    </a:p>
                  </a:txBody>
                  <a:tcPr marT="42203" marB="42203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105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endParaRPr kumimoji="1" lang="ko-KR" altLang="en-US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7680402"/>
                  </a:ext>
                </a:extLst>
              </a:tr>
              <a:tr h="109426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14:00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-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17:00</a:t>
                      </a:r>
                    </a:p>
                  </a:txBody>
                  <a:tcPr marT="42203" marB="42203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+mn-ea"/>
                        </a:rPr>
                        <a:t>감성 카테고리 </a:t>
                      </a:r>
                      <a:r>
                        <a:rPr kumimoji="1" lang="en-US" altLang="ko-KR" sz="1000" b="1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+mn-ea"/>
                        </a:rPr>
                        <a:t>22 Type </a:t>
                      </a:r>
                      <a:r>
                        <a:rPr kumimoji="1" lang="ko-KR" altLang="en-US" sz="1000" b="1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+mn-ea"/>
                        </a:rPr>
                        <a:t>분석 </a:t>
                      </a:r>
                      <a:endParaRPr kumimoji="1" lang="en-US" altLang="ko-KR" sz="1000" b="1" dirty="0">
                        <a:solidFill>
                          <a:srgbClr val="000000"/>
                        </a:solidFill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kern="1200" baseline="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1" kern="1200" baseline="0" dirty="0" err="1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색채ㆍ소재ㆍ무늬ㆍ실루엣에</a:t>
                      </a:r>
                      <a:r>
                        <a:rPr kumimoji="1" lang="ko-KR" altLang="en-US" sz="1000" b="1" kern="1200" baseline="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따른 스케일 선별법 </a:t>
                      </a:r>
                      <a:r>
                        <a:rPr kumimoji="1" lang="en-US" altLang="ko-KR" sz="1000" b="1" kern="1200" baseline="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/ </a:t>
                      </a:r>
                    </a:p>
                    <a:p>
                      <a:pPr marL="0" marR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kern="1200" baseline="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얼굴형에 따른 인물 스케일 분석</a:t>
                      </a:r>
                      <a:r>
                        <a:rPr kumimoji="1" lang="en-US" altLang="ko-KR" sz="1000" b="1" kern="1200" baseline="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)</a:t>
                      </a:r>
                      <a:endParaRPr lang="en-US" altLang="ko-KR" sz="1000" b="1" kern="1200" baseline="0" dirty="0">
                        <a:solidFill>
                          <a:srgbClr val="7030A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 latinLnBrk="1">
                        <a:buFont typeface="Arial" pitchFamily="34" charset="0"/>
                        <a:buChar char="•"/>
                      </a:pPr>
                      <a:r>
                        <a:rPr lang="ko-KR" altLang="en-US" sz="1000" b="0" kern="1200" baseline="0" dirty="0">
                          <a:solidFill>
                            <a:srgbClr val="7030A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패션과 얼굴 </a:t>
                      </a:r>
                      <a:r>
                        <a:rPr lang="en-US" altLang="ko-KR" sz="1000" b="0" kern="1200" baseline="0" dirty="0">
                          <a:solidFill>
                            <a:srgbClr val="7030A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ko-KR" sz="10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_ </a:t>
                      </a:r>
                      <a:r>
                        <a:rPr lang="ko-KR" altLang="en-US" sz="1000" b="0" kern="1200" baseline="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클리어스포티</a:t>
                      </a:r>
                      <a:r>
                        <a:rPr lang="en-US" altLang="ko-KR" sz="10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소프트캐주얼</a:t>
                      </a:r>
                      <a:r>
                        <a:rPr lang="en-US" altLang="ko-KR" sz="10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페미닌</a:t>
                      </a:r>
                      <a:r>
                        <a:rPr lang="en-US" altLang="ko-KR" sz="10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소프트엘레강스의</a:t>
                      </a:r>
                      <a:r>
                        <a:rPr lang="ko-KR" altLang="en-US" sz="10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이해</a:t>
                      </a:r>
                      <a:endParaRPr lang="en-US" altLang="ko-KR" sz="1000" b="0" kern="1200" baseline="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buFont typeface="Arial" pitchFamily="34" charset="0"/>
                        <a:buNone/>
                      </a:pPr>
                      <a:r>
                        <a:rPr lang="en-US" altLang="ko-KR" sz="10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ko-KR" altLang="en-US" sz="1000" b="0" kern="1200" baseline="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드레이핑에</a:t>
                      </a:r>
                      <a:r>
                        <a:rPr lang="ko-KR" altLang="en-US" sz="10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따른 </a:t>
                      </a:r>
                      <a:r>
                        <a:rPr lang="ko-KR" altLang="en-US" sz="1000" b="0" kern="1200" baseline="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테이스트</a:t>
                      </a:r>
                      <a:r>
                        <a:rPr lang="ko-KR" altLang="en-US" sz="10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세분화 방법 </a:t>
                      </a:r>
                      <a:r>
                        <a:rPr lang="en-US" altLang="ko-KR" sz="10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&lt;</a:t>
                      </a:r>
                      <a:r>
                        <a:rPr lang="ko-KR" altLang="en-US" sz="10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실습</a:t>
                      </a:r>
                      <a:r>
                        <a:rPr lang="en-US" altLang="ko-KR" sz="10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&gt; 4 </a:t>
                      </a:r>
                      <a:r>
                        <a:rPr lang="ko-KR" altLang="en-US" sz="10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타입의 콜라주</a:t>
                      </a:r>
                      <a:endParaRPr lang="en-US" altLang="ko-KR" sz="1000" b="0" kern="1200" baseline="0" dirty="0">
                        <a:solidFill>
                          <a:srgbClr val="7030A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71450" indent="-171450" algn="just" latinLnBrk="1">
                        <a:lnSpc>
                          <a:spcPct val="130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endParaRPr kumimoji="1" lang="ko-KR" altLang="en-US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5213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일차</a:t>
                      </a:r>
                    </a:p>
                  </a:txBody>
                  <a:tcPr marT="42203" marB="42203" anchor="ctr"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10:10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-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13:00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T="42203" marB="42203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71450" indent="-171450" latinLnBrk="1">
                        <a:buFont typeface="Arial" pitchFamily="34" charset="0"/>
                        <a:buChar char="•"/>
                      </a:pPr>
                      <a:r>
                        <a:rPr lang="ko-KR" altLang="en-US" sz="1000" b="0" kern="1200" baseline="0" dirty="0">
                          <a:solidFill>
                            <a:srgbClr val="7030A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패션과 얼굴 </a:t>
                      </a:r>
                      <a:r>
                        <a:rPr lang="en-US" altLang="ko-KR" sz="1000" b="0" kern="1200" baseline="0" dirty="0">
                          <a:solidFill>
                            <a:srgbClr val="7030A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en-US" altLang="ko-KR" sz="10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_ </a:t>
                      </a:r>
                      <a:r>
                        <a:rPr lang="ko-KR" altLang="en-US" sz="1000" b="0" kern="1200" baseline="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엘레강스</a:t>
                      </a:r>
                      <a:r>
                        <a:rPr lang="en-US" altLang="ko-KR" sz="10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스포티</a:t>
                      </a:r>
                      <a:r>
                        <a:rPr lang="en-US" altLang="ko-KR" sz="10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캐주얼</a:t>
                      </a:r>
                      <a:r>
                        <a:rPr lang="en-US" altLang="ko-KR" sz="10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트레디셔널의</a:t>
                      </a:r>
                      <a:r>
                        <a:rPr lang="ko-KR" altLang="en-US" sz="10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이해와 설명</a:t>
                      </a:r>
                      <a:endParaRPr lang="en-US" altLang="ko-KR" sz="1000" b="0" kern="1200" baseline="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buFont typeface="Arial" pitchFamily="34" charset="0"/>
                        <a:buNone/>
                      </a:pPr>
                      <a:r>
                        <a:rPr lang="en-US" altLang="ko-KR" sz="10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</a:t>
                      </a:r>
                      <a:r>
                        <a:rPr lang="ko-KR" altLang="en-US" sz="10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패턴과 </a:t>
                      </a:r>
                      <a:r>
                        <a:rPr lang="ko-KR" altLang="en-US" sz="1000" b="0" kern="1200" baseline="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드레이핑에</a:t>
                      </a:r>
                      <a:r>
                        <a:rPr lang="ko-KR" altLang="en-US" sz="10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따른 </a:t>
                      </a:r>
                      <a:r>
                        <a:rPr lang="ko-KR" altLang="en-US" sz="1000" b="0" kern="1200" baseline="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테이스트의</a:t>
                      </a:r>
                      <a:r>
                        <a:rPr lang="ko-KR" altLang="en-US" sz="10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사용 방법 </a:t>
                      </a:r>
                      <a:r>
                        <a:rPr lang="en-US" altLang="ko-KR" sz="10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&lt;</a:t>
                      </a:r>
                      <a:r>
                        <a:rPr lang="ko-KR" altLang="en-US" sz="10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실습</a:t>
                      </a:r>
                      <a:r>
                        <a:rPr lang="en-US" altLang="ko-KR" sz="10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&gt; 4 </a:t>
                      </a:r>
                      <a:r>
                        <a:rPr lang="ko-KR" altLang="en-US" sz="10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타입의 콜라주</a:t>
                      </a:r>
                      <a:endParaRPr lang="en-US" altLang="ko-KR" sz="1000" b="0" kern="1200" baseline="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just" latinLnBrk="1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211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LUNCH</a:t>
                      </a:r>
                      <a:r>
                        <a:rPr lang="en-US" altLang="ko-KR" sz="1000" baseline="0" dirty="0">
                          <a:latin typeface="+mn-ea"/>
                          <a:ea typeface="+mn-ea"/>
                        </a:rPr>
                        <a:t> TIME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</a:txBody>
                  <a:tcPr marT="42203" marB="42203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105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9178753"/>
                  </a:ext>
                </a:extLst>
              </a:tr>
              <a:tr h="56553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14:00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-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17:00</a:t>
                      </a:r>
                    </a:p>
                  </a:txBody>
                  <a:tcPr marT="42203" marB="42203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71450" marR="0" indent="-17145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패션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테이스트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과제 작성 및 고객 진단 보고서 작성 포인트 설명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buFont typeface="Arial" pitchFamily="34" charset="0"/>
                        <a:buNone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(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포토샵 스킬 및 활용방법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: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조혜나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팀장 진행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lnSpc>
                          <a:spcPct val="130000"/>
                        </a:lnSpc>
                      </a:pP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65534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일차</a:t>
                      </a:r>
                    </a:p>
                  </a:txBody>
                  <a:tcPr marT="42203" marB="42203" anchor="ctr"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10:10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-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13:00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T="42203" marB="42203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71450" indent="-171450" latinLnBrk="1">
                        <a:buFont typeface="Arial" pitchFamily="34" charset="0"/>
                        <a:buChar char="•"/>
                      </a:pPr>
                      <a:r>
                        <a:rPr lang="ko-KR" altLang="en-US" sz="1000" b="0" kern="1200" baseline="0" dirty="0">
                          <a:solidFill>
                            <a:srgbClr val="7030A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패션과 얼굴 </a:t>
                      </a:r>
                      <a:r>
                        <a:rPr lang="en-US" altLang="ko-KR" sz="1000" b="0" kern="1200" baseline="0" dirty="0">
                          <a:solidFill>
                            <a:srgbClr val="7030A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lang="en-US" altLang="ko-KR" sz="10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_ </a:t>
                      </a:r>
                      <a:r>
                        <a:rPr lang="ko-KR" altLang="en-US" sz="1000" b="0" kern="1200" baseline="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내추럴</a:t>
                      </a:r>
                      <a:r>
                        <a:rPr lang="en-US" altLang="ko-KR" sz="10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엘레강스고저스</a:t>
                      </a:r>
                      <a:r>
                        <a:rPr lang="en-US" altLang="ko-KR" sz="10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다이나믹</a:t>
                      </a:r>
                      <a:r>
                        <a:rPr lang="en-US" altLang="ko-KR" sz="10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에스닉의</a:t>
                      </a:r>
                      <a:r>
                        <a:rPr lang="ko-KR" altLang="en-US" sz="10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이해</a:t>
                      </a:r>
                      <a:endParaRPr lang="en-US" altLang="ko-KR" sz="1000" b="0" kern="1200" baseline="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buFont typeface="Arial" pitchFamily="34" charset="0"/>
                        <a:buNone/>
                      </a:pPr>
                      <a:r>
                        <a:rPr lang="en-US" altLang="ko-KR" sz="10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&lt;</a:t>
                      </a:r>
                      <a:r>
                        <a:rPr lang="ko-KR" altLang="en-US" sz="10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실습</a:t>
                      </a:r>
                      <a:r>
                        <a:rPr lang="en-US" altLang="ko-KR" sz="10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&gt; 4 </a:t>
                      </a:r>
                      <a:r>
                        <a:rPr lang="ko-KR" altLang="en-US" sz="10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타입의 콜라주</a:t>
                      </a:r>
                      <a:endParaRPr lang="en-US" altLang="ko-KR" sz="1000" b="0" kern="1200" baseline="0" dirty="0">
                        <a:solidFill>
                          <a:srgbClr val="7030A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55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LUNCH</a:t>
                      </a:r>
                      <a:r>
                        <a:rPr lang="en-US" altLang="ko-KR" sz="1000" baseline="0" dirty="0">
                          <a:latin typeface="+mn-ea"/>
                          <a:ea typeface="+mn-ea"/>
                        </a:rPr>
                        <a:t> TIME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</a:txBody>
                  <a:tcPr marT="42203" marB="42203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105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9049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14:00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-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17:00</a:t>
                      </a:r>
                    </a:p>
                  </a:txBody>
                  <a:tcPr marT="42203" marB="42203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71450" marR="0" indent="-17145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백화점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쇼핑센터의 쇼핑 및 스타일링 선택 실습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936380" y="398042"/>
            <a:ext cx="16898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spc="-150" dirty="0">
                <a:latin typeface="+mn-ea"/>
              </a:rPr>
              <a:t>2. </a:t>
            </a:r>
            <a:r>
              <a:rPr lang="ko-KR" altLang="en-US" sz="2000" b="1" spc="-150" dirty="0">
                <a:latin typeface="+mn-ea"/>
              </a:rPr>
              <a:t>교육 시간표</a:t>
            </a:r>
          </a:p>
        </p:txBody>
      </p:sp>
    </p:spTree>
    <p:extLst>
      <p:ext uri="{BB962C8B-B14F-4D97-AF65-F5344CB8AC3E}">
        <p14:creationId xmlns:p14="http://schemas.microsoft.com/office/powerpoint/2010/main" val="859407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-16690" y="-8837"/>
            <a:ext cx="6874690" cy="9152834"/>
            <a:chOff x="-16690" y="-9573"/>
            <a:chExt cx="6874690" cy="9915570"/>
          </a:xfr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grpSpPr>
        <p:sp>
          <p:nvSpPr>
            <p:cNvPr id="32" name="직사각형 31"/>
            <p:cNvSpPr/>
            <p:nvPr/>
          </p:nvSpPr>
          <p:spPr>
            <a:xfrm rot="10800000">
              <a:off x="0" y="9449004"/>
              <a:ext cx="6858000" cy="36000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 dirty="0">
                <a:solidFill>
                  <a:schemeClr val="bg1"/>
                </a:solidFill>
                <a:latin typeface="청소년서체" panose="02020603020101020101" pitchFamily="18" charset="-127"/>
                <a:ea typeface="청소년서체" panose="02020603020101020101" pitchFamily="18" charset="-127"/>
              </a:endParaRPr>
            </a:p>
          </p:txBody>
        </p:sp>
        <p:sp>
          <p:nvSpPr>
            <p:cNvPr id="97" name="직사각형 96"/>
            <p:cNvSpPr/>
            <p:nvPr/>
          </p:nvSpPr>
          <p:spPr>
            <a:xfrm rot="5400000">
              <a:off x="-4764916" y="4927104"/>
              <a:ext cx="9892931" cy="45719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 dirty="0">
                <a:solidFill>
                  <a:schemeClr val="bg1"/>
                </a:solidFill>
                <a:latin typeface="청소년서체" panose="02020603020101020101" pitchFamily="18" charset="-127"/>
                <a:ea typeface="청소년서체" panose="02020603020101020101" pitchFamily="18" charset="-127"/>
              </a:endParaRPr>
            </a:p>
          </p:txBody>
        </p:sp>
        <p:sp>
          <p:nvSpPr>
            <p:cNvPr id="96" name="직사각형 95"/>
            <p:cNvSpPr/>
            <p:nvPr/>
          </p:nvSpPr>
          <p:spPr>
            <a:xfrm rot="16200000">
              <a:off x="-4897691" y="4871428"/>
              <a:ext cx="9906002" cy="144000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ko-KR" sz="1400" dirty="0">
                <a:solidFill>
                  <a:prstClr val="white"/>
                </a:solidFill>
                <a:latin typeface="정부상징 부처명_16040911" panose="02020503020101020101" pitchFamily="18" charset="-127"/>
                <a:ea typeface="정부상징 부처명_16040911" panose="02020503020101020101" pitchFamily="18" charset="-127"/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0" y="9521370"/>
              <a:ext cx="6858000" cy="384627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>
                <a:solidFill>
                  <a:schemeClr val="bg1"/>
                </a:solidFill>
                <a:latin typeface="정부상징 부처명_16040911" panose="02020503020101020101" pitchFamily="18" charset="-127"/>
                <a:ea typeface="정부상징 부처명_16040911" panose="02020503020101020101" pitchFamily="18" charset="-127"/>
              </a:endParaRPr>
            </a:p>
          </p:txBody>
        </p:sp>
      </p:grp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7220949"/>
              </p:ext>
            </p:extLst>
          </p:nvPr>
        </p:nvGraphicFramePr>
        <p:xfrm>
          <a:off x="397900" y="1118983"/>
          <a:ext cx="6266608" cy="38618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9541">
                  <a:extLst>
                    <a:ext uri="{9D8B030D-6E8A-4147-A177-3AD203B41FA5}">
                      <a16:colId xmlns:a16="http://schemas.microsoft.com/office/drawing/2014/main" val="2839427341"/>
                    </a:ext>
                  </a:extLst>
                </a:gridCol>
                <a:gridCol w="539767">
                  <a:extLst>
                    <a:ext uri="{9D8B030D-6E8A-4147-A177-3AD203B41FA5}">
                      <a16:colId xmlns:a16="http://schemas.microsoft.com/office/drawing/2014/main" val="58516974"/>
                    </a:ext>
                  </a:extLst>
                </a:gridCol>
                <a:gridCol w="1828227">
                  <a:extLst>
                    <a:ext uri="{9D8B030D-6E8A-4147-A177-3AD203B41FA5}">
                      <a16:colId xmlns:a16="http://schemas.microsoft.com/office/drawing/2014/main" val="1406392507"/>
                    </a:ext>
                  </a:extLst>
                </a:gridCol>
                <a:gridCol w="3239073">
                  <a:extLst>
                    <a:ext uri="{9D8B030D-6E8A-4147-A177-3AD203B41FA5}">
                      <a16:colId xmlns:a16="http://schemas.microsoft.com/office/drawing/2014/main" val="3531327233"/>
                    </a:ext>
                  </a:extLst>
                </a:gridCol>
              </a:tblGrid>
              <a:tr h="32289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일차</a:t>
                      </a:r>
                    </a:p>
                  </a:txBody>
                  <a:tcPr marT="42203" marB="42203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시간</a:t>
                      </a:r>
                    </a:p>
                  </a:txBody>
                  <a:tcPr marT="42203" marB="42203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모듈</a:t>
                      </a:r>
                    </a:p>
                  </a:txBody>
                  <a:tcPr marT="42203" marB="42203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세부내용</a:t>
                      </a:r>
                    </a:p>
                  </a:txBody>
                  <a:tcPr marT="42203" marB="42203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0521137"/>
                  </a:ext>
                </a:extLst>
              </a:tr>
              <a:tr h="749718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일차</a:t>
                      </a:r>
                    </a:p>
                  </a:txBody>
                  <a:tcPr marT="42203" marB="42203" anchor="ctr"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10:10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-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13:00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T="42203" marB="42203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71450" indent="-171450" latinLnBrk="1">
                        <a:buFont typeface="Arial" pitchFamily="34" charset="0"/>
                        <a:buChar char="•"/>
                      </a:pPr>
                      <a:r>
                        <a:rPr lang="ko-KR" altLang="en-US" sz="1000" b="0" kern="1200" baseline="0" dirty="0">
                          <a:solidFill>
                            <a:srgbClr val="7030A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패션과 얼굴 </a:t>
                      </a:r>
                      <a:r>
                        <a:rPr lang="en-US" altLang="ko-KR" sz="1000" b="0" kern="1200" baseline="0" dirty="0">
                          <a:solidFill>
                            <a:srgbClr val="7030A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en-US" altLang="ko-KR" sz="10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_ </a:t>
                      </a:r>
                      <a:r>
                        <a:rPr lang="ko-KR" altLang="en-US" sz="10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클래식</a:t>
                      </a:r>
                      <a:r>
                        <a:rPr lang="en-US" altLang="ko-KR" sz="10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고저스</a:t>
                      </a:r>
                      <a:r>
                        <a:rPr lang="en-US" altLang="ko-KR" sz="10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와일드니스의 이해와 설명</a:t>
                      </a:r>
                      <a:endParaRPr lang="en-US" altLang="ko-KR" sz="1000" b="0" kern="1200" baseline="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buFont typeface="Arial" pitchFamily="34" charset="0"/>
                        <a:buNone/>
                      </a:pPr>
                      <a:r>
                        <a:rPr lang="en-US" altLang="ko-KR" sz="10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</a:t>
                      </a:r>
                      <a:r>
                        <a:rPr lang="ko-KR" altLang="en-US" sz="10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패턴과 </a:t>
                      </a:r>
                      <a:r>
                        <a:rPr lang="ko-KR" altLang="en-US" sz="1000" b="0" kern="1200" baseline="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드레이핑에</a:t>
                      </a:r>
                      <a:r>
                        <a:rPr lang="ko-KR" altLang="en-US" sz="10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따른 </a:t>
                      </a:r>
                      <a:r>
                        <a:rPr lang="ko-KR" altLang="en-US" sz="1000" b="0" kern="1200" baseline="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테이스트의</a:t>
                      </a:r>
                      <a:r>
                        <a:rPr lang="ko-KR" altLang="en-US" sz="10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사용 방법 </a:t>
                      </a:r>
                      <a:r>
                        <a:rPr lang="en-US" altLang="ko-KR" sz="10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&lt;</a:t>
                      </a:r>
                      <a:r>
                        <a:rPr lang="ko-KR" altLang="en-US" sz="10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실습</a:t>
                      </a:r>
                      <a:r>
                        <a:rPr lang="en-US" altLang="ko-KR" sz="10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&gt; 3 </a:t>
                      </a:r>
                      <a:r>
                        <a:rPr lang="ko-KR" altLang="en-US" sz="10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타입의 콜라주</a:t>
                      </a:r>
                      <a:endParaRPr lang="en-US" altLang="ko-KR" sz="1000" b="0" kern="1200" baseline="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just" latinLnBrk="1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211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LUNCH</a:t>
                      </a:r>
                      <a:r>
                        <a:rPr lang="en-US" altLang="ko-KR" sz="1000" baseline="0" dirty="0">
                          <a:latin typeface="+mn-ea"/>
                          <a:ea typeface="+mn-ea"/>
                        </a:rPr>
                        <a:t> TIME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</a:txBody>
                  <a:tcPr marT="42203" marB="42203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105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9178753"/>
                  </a:ext>
                </a:extLst>
              </a:tr>
              <a:tr h="56553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14:00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-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17:00</a:t>
                      </a:r>
                    </a:p>
                  </a:txBody>
                  <a:tcPr marT="42203" marB="42203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71450" indent="-171450" latinLnBrk="1">
                        <a:buFont typeface="Arial" pitchFamily="34" charset="0"/>
                        <a:buChar char="•"/>
                      </a:pPr>
                      <a:r>
                        <a:rPr lang="ko-KR" altLang="en-US" sz="1000" b="0" kern="1200" baseline="0" dirty="0">
                          <a:solidFill>
                            <a:srgbClr val="7030A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패션과 얼굴 </a:t>
                      </a:r>
                      <a:r>
                        <a:rPr lang="en-US" altLang="ko-KR" sz="1000" b="0" kern="1200" baseline="0" dirty="0">
                          <a:solidFill>
                            <a:srgbClr val="7030A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r>
                        <a:rPr lang="en-US" altLang="ko-KR" sz="10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_ </a:t>
                      </a:r>
                      <a:r>
                        <a:rPr lang="ko-KR" altLang="en-US" sz="1000" b="0" kern="1200" baseline="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댄디</a:t>
                      </a:r>
                      <a:r>
                        <a:rPr lang="en-US" altLang="ko-KR" sz="10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하드모던</a:t>
                      </a:r>
                      <a:r>
                        <a:rPr lang="en-US" altLang="ko-KR" sz="10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0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kern="1200" baseline="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포멀의</a:t>
                      </a:r>
                      <a:r>
                        <a:rPr lang="ko-KR" altLang="en-US" sz="10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이해</a:t>
                      </a:r>
                      <a:endParaRPr lang="en-US" altLang="ko-KR" sz="1000" b="0" kern="1200" baseline="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buFont typeface="Arial" pitchFamily="34" charset="0"/>
                        <a:buNone/>
                      </a:pPr>
                      <a:r>
                        <a:rPr lang="en-US" altLang="ko-KR" sz="10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</a:t>
                      </a:r>
                      <a:r>
                        <a:rPr lang="ko-KR" altLang="en-US" sz="10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패턴과 </a:t>
                      </a:r>
                      <a:r>
                        <a:rPr lang="ko-KR" altLang="en-US" sz="1000" b="0" kern="1200" baseline="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드레이핑의</a:t>
                      </a:r>
                      <a:r>
                        <a:rPr lang="ko-KR" altLang="en-US" sz="10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실습 </a:t>
                      </a:r>
                      <a:r>
                        <a:rPr lang="en-US" altLang="ko-KR" sz="10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&lt;</a:t>
                      </a:r>
                      <a:r>
                        <a:rPr lang="ko-KR" altLang="en-US" sz="10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실습</a:t>
                      </a:r>
                      <a:r>
                        <a:rPr lang="en-US" altLang="ko-KR" sz="10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&gt; 3 </a:t>
                      </a:r>
                      <a:r>
                        <a:rPr lang="ko-KR" altLang="en-US" sz="10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타입의 콜라주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lnSpc>
                          <a:spcPct val="130000"/>
                        </a:lnSpc>
                      </a:pP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65534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일차</a:t>
                      </a:r>
                    </a:p>
                  </a:txBody>
                  <a:tcPr marT="42203" marB="42203" anchor="ctr"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10:10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-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13:00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T="42203" marB="42203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71450" indent="-171450" latinLnBrk="1">
                        <a:buFont typeface="Arial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교육생 개별 이미지스케일 진단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 latinLnBrk="1">
                        <a:buFont typeface="Arial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교육생 포트폴리오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웨딩 드레스 이미지스케일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점검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55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LUNCH</a:t>
                      </a:r>
                      <a:r>
                        <a:rPr lang="en-US" altLang="ko-KR" sz="1000" baseline="0" dirty="0">
                          <a:latin typeface="+mn-ea"/>
                          <a:ea typeface="+mn-ea"/>
                        </a:rPr>
                        <a:t> TIME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</a:txBody>
                  <a:tcPr marT="42203" marB="42203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105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11684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14:00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-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17:00</a:t>
                      </a:r>
                    </a:p>
                  </a:txBody>
                  <a:tcPr marT="42203" marB="42203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71450" marR="0" indent="-17145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22 type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에 따른 메이크업 활용법과 메이크업 컬러 구별법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lnSpc>
                          <a:spcPct val="130000"/>
                        </a:lnSpc>
                        <a:buFont typeface="Arial" pitchFamily="34" charset="0"/>
                        <a:buChar char="•"/>
                      </a:pPr>
                      <a:r>
                        <a:rPr lang="ko-KR" altLang="en-US" sz="10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감성이미지통계학을 바탕으로 </a:t>
                      </a:r>
                      <a:r>
                        <a:rPr lang="en-US" altLang="ko-KR" sz="10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CMK Image Korea</a:t>
                      </a:r>
                      <a:r>
                        <a:rPr lang="ko-KR" altLang="en-US" sz="10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가 개발한 </a:t>
                      </a:r>
                      <a:r>
                        <a:rPr lang="en-US" altLang="ko-KR" sz="10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SFDC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altLang="ko-KR" sz="10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S</a:t>
                      </a:r>
                      <a:r>
                        <a:rPr lang="ko-KR" altLang="en-US" sz="10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형</a:t>
                      </a:r>
                      <a:r>
                        <a:rPr lang="en-US" altLang="ko-KR" sz="10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-Soft Modern, F</a:t>
                      </a:r>
                      <a:r>
                        <a:rPr lang="ko-KR" altLang="en-US" sz="10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형</a:t>
                      </a:r>
                      <a:r>
                        <a:rPr lang="en-US" altLang="ko-KR" sz="10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-Friendly, 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altLang="ko-KR" sz="10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D</a:t>
                      </a:r>
                      <a:r>
                        <a:rPr lang="ko-KR" altLang="en-US" sz="10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형</a:t>
                      </a:r>
                      <a:r>
                        <a:rPr lang="en-US" altLang="ko-KR" sz="10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-Dynamic,</a:t>
                      </a:r>
                      <a:r>
                        <a:rPr lang="en-US" altLang="ko-KR" sz="10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</a:t>
                      </a:r>
                      <a:r>
                        <a:rPr lang="ko-KR" altLang="en-US" sz="10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형</a:t>
                      </a:r>
                      <a:r>
                        <a:rPr lang="en-US" altLang="ko-KR" sz="10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-Confidence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936380" y="398042"/>
            <a:ext cx="16898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spc="-150" dirty="0">
                <a:latin typeface="+mn-ea"/>
              </a:rPr>
              <a:t>2. </a:t>
            </a:r>
            <a:r>
              <a:rPr lang="ko-KR" altLang="en-US" sz="2000" b="1" spc="-150" dirty="0">
                <a:latin typeface="+mn-ea"/>
              </a:rPr>
              <a:t>교육 시간표</a:t>
            </a:r>
          </a:p>
        </p:txBody>
      </p:sp>
    </p:spTree>
    <p:extLst>
      <p:ext uri="{BB962C8B-B14F-4D97-AF65-F5344CB8AC3E}">
        <p14:creationId xmlns:p14="http://schemas.microsoft.com/office/powerpoint/2010/main" val="778950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-16690" y="-8837"/>
            <a:ext cx="6874690" cy="9152834"/>
            <a:chOff x="-16690" y="-9573"/>
            <a:chExt cx="6874690" cy="9915570"/>
          </a:xfr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grpSpPr>
        <p:sp>
          <p:nvSpPr>
            <p:cNvPr id="32" name="직사각형 31"/>
            <p:cNvSpPr/>
            <p:nvPr/>
          </p:nvSpPr>
          <p:spPr>
            <a:xfrm rot="10800000">
              <a:off x="0" y="9449004"/>
              <a:ext cx="6858000" cy="36000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 dirty="0">
                <a:solidFill>
                  <a:schemeClr val="bg1"/>
                </a:solidFill>
                <a:latin typeface="청소년서체" panose="02020603020101020101" pitchFamily="18" charset="-127"/>
                <a:ea typeface="청소년서체" panose="02020603020101020101" pitchFamily="18" charset="-127"/>
              </a:endParaRPr>
            </a:p>
          </p:txBody>
        </p:sp>
        <p:sp>
          <p:nvSpPr>
            <p:cNvPr id="97" name="직사각형 96"/>
            <p:cNvSpPr/>
            <p:nvPr/>
          </p:nvSpPr>
          <p:spPr>
            <a:xfrm rot="5400000">
              <a:off x="-4764916" y="4927104"/>
              <a:ext cx="9892931" cy="45719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 dirty="0">
                <a:solidFill>
                  <a:schemeClr val="bg1"/>
                </a:solidFill>
                <a:latin typeface="청소년서체" panose="02020603020101020101" pitchFamily="18" charset="-127"/>
                <a:ea typeface="청소년서체" panose="02020603020101020101" pitchFamily="18" charset="-127"/>
              </a:endParaRPr>
            </a:p>
          </p:txBody>
        </p:sp>
        <p:sp>
          <p:nvSpPr>
            <p:cNvPr id="96" name="직사각형 95"/>
            <p:cNvSpPr/>
            <p:nvPr/>
          </p:nvSpPr>
          <p:spPr>
            <a:xfrm rot="16200000">
              <a:off x="-4897691" y="4871428"/>
              <a:ext cx="9906002" cy="144000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ko-KR" sz="1400" dirty="0">
                <a:solidFill>
                  <a:prstClr val="white"/>
                </a:solidFill>
                <a:latin typeface="정부상징 부처명_16040911" panose="02020503020101020101" pitchFamily="18" charset="-127"/>
                <a:ea typeface="정부상징 부처명_16040911" panose="02020503020101020101" pitchFamily="18" charset="-127"/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0" y="9521370"/>
              <a:ext cx="6858000" cy="384627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>
                <a:solidFill>
                  <a:schemeClr val="bg1"/>
                </a:solidFill>
                <a:latin typeface="정부상징 부처명_16040911" panose="02020503020101020101" pitchFamily="18" charset="-127"/>
                <a:ea typeface="정부상징 부처명_16040911" panose="02020503020101020101" pitchFamily="18" charset="-127"/>
              </a:endParaRP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4936380" y="398042"/>
            <a:ext cx="16417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spc="-150" dirty="0">
                <a:latin typeface="+mn-ea"/>
              </a:rPr>
              <a:t>3 </a:t>
            </a:r>
            <a:r>
              <a:rPr lang="ko-KR" altLang="en-US" sz="2000" b="1" spc="-150" dirty="0">
                <a:latin typeface="+mn-ea"/>
              </a:rPr>
              <a:t>과정 스케치</a:t>
            </a:r>
          </a:p>
        </p:txBody>
      </p:sp>
      <p:grpSp>
        <p:nvGrpSpPr>
          <p:cNvPr id="4" name="그룹 3"/>
          <p:cNvGrpSpPr/>
          <p:nvPr/>
        </p:nvGrpSpPr>
        <p:grpSpPr>
          <a:xfrm>
            <a:off x="780361" y="5923638"/>
            <a:ext cx="5516202" cy="1655190"/>
            <a:chOff x="204409" y="7023792"/>
            <a:chExt cx="11497426" cy="2176980"/>
          </a:xfrm>
        </p:grpSpPr>
        <p:pic>
          <p:nvPicPr>
            <p:cNvPr id="1026" name="Picture 2" descr="C:\Users\win10\Documents\카카오톡 받은 파일\KakaoTalk_20191028_121851471_04.jp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41835" y="7040772"/>
              <a:ext cx="2880000" cy="21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7" name="Picture 3" descr="C:\Users\win10\Documents\카카오톡 받은 파일\KakaoTalk_20191028_121851471_05.jp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21835" y="7040772"/>
              <a:ext cx="2880000" cy="21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C:\Users\win10\Documents\카카오톡 받은 파일\KakaoTalk_20191028_121851471_06.jpg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1745" y="7023792"/>
              <a:ext cx="2877336" cy="21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9" name="Picture 5" descr="C:\Users\win10\Documents\카카오톡 받은 파일\KakaoTalk_20191028_121851471_07.jpg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4409" y="7031310"/>
              <a:ext cx="2877336" cy="21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" name="그룹 4"/>
          <p:cNvGrpSpPr/>
          <p:nvPr/>
        </p:nvGrpSpPr>
        <p:grpSpPr>
          <a:xfrm>
            <a:off x="780361" y="1742830"/>
            <a:ext cx="3707848" cy="3923445"/>
            <a:chOff x="1147622" y="1769461"/>
            <a:chExt cx="4562757" cy="5230401"/>
          </a:xfrm>
        </p:grpSpPr>
        <p:grpSp>
          <p:nvGrpSpPr>
            <p:cNvPr id="3" name="그룹 2"/>
            <p:cNvGrpSpPr/>
            <p:nvPr/>
          </p:nvGrpSpPr>
          <p:grpSpPr>
            <a:xfrm>
              <a:off x="1147622" y="1769461"/>
              <a:ext cx="4562756" cy="5230401"/>
              <a:chOff x="533400" y="1328054"/>
              <a:chExt cx="5760000" cy="6602831"/>
            </a:xfrm>
          </p:grpSpPr>
          <p:pic>
            <p:nvPicPr>
              <p:cNvPr id="1030" name="Picture 6" descr="C:\Users\win10\Documents\카카오톡 받은 파일\KakaoTalk_20191028_121851471_08.jpg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33400" y="1328054"/>
                <a:ext cx="2880000" cy="216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32" name="Picture 8" descr="C:\Users\win10\Documents\카카오톡 받은 파일\KakaoTalk_20191028_121851471_10.jpg"/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13400" y="1328054"/>
                <a:ext cx="2880000" cy="216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34" name="Picture 10" descr="C:\Users\win10\Documents\카카오톡 받은 파일\KakaoTalk_20191028_121851471_12.jpg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13400" y="5770885"/>
                <a:ext cx="2880000" cy="216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35" name="Picture 11" descr="C:\Users\win10\Documents\카카오톡 받은 파일\KakaoTalk_20191028_121851471.jpg"/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33400" y="5762223"/>
                <a:ext cx="2880000" cy="216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37" name="Picture 13" descr="C:\Users\win10\Documents\카카오톡 받은 파일\KakaoTalk_20191028_121851471_02.jpg"/>
              <p:cNvPicPr>
                <a:picLocks noChangeAspect="1" noChangeArrowheads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49000" y="3532055"/>
                <a:ext cx="2880000" cy="216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038" name="Picture 14" descr="C:\Users\win10\Documents\카카오톡 받은 파일\KakaoTalk_20191028_121851471_03.jpg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29000" y="3515350"/>
              <a:ext cx="2281379" cy="17110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8" name="그룹 27"/>
          <p:cNvGrpSpPr/>
          <p:nvPr/>
        </p:nvGrpSpPr>
        <p:grpSpPr>
          <a:xfrm>
            <a:off x="4774995" y="2442856"/>
            <a:ext cx="1521569" cy="3223420"/>
            <a:chOff x="660869" y="5943932"/>
            <a:chExt cx="1352620" cy="3104297"/>
          </a:xfrm>
        </p:grpSpPr>
        <p:pic>
          <p:nvPicPr>
            <p:cNvPr id="29" name="Picture 5" descr="C:\Users\win10\Desktop\콜라랄.JPG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0938" y="7970415"/>
              <a:ext cx="1352551" cy="10778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6" descr="C:\Users\win10\Desktop\국ㄱ.JPG"/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0869" y="7051594"/>
              <a:ext cx="1344876" cy="8955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Picture 7" descr="C:\Users\win10\Desktop\콜ㄹㄹ라.JPG"/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0938" y="5943932"/>
              <a:ext cx="1352550" cy="10858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64456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-16690" y="-8837"/>
            <a:ext cx="6874690" cy="9152834"/>
            <a:chOff x="-16690" y="-9573"/>
            <a:chExt cx="6874690" cy="9915570"/>
          </a:xfr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grpSpPr>
        <p:sp>
          <p:nvSpPr>
            <p:cNvPr id="32" name="직사각형 31"/>
            <p:cNvSpPr/>
            <p:nvPr/>
          </p:nvSpPr>
          <p:spPr>
            <a:xfrm rot="10800000">
              <a:off x="0" y="9449004"/>
              <a:ext cx="6858000" cy="36000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 dirty="0">
                <a:solidFill>
                  <a:schemeClr val="bg1"/>
                </a:solidFill>
                <a:latin typeface="청소년서체" panose="02020603020101020101" pitchFamily="18" charset="-127"/>
                <a:ea typeface="청소년서체" panose="02020603020101020101" pitchFamily="18" charset="-127"/>
              </a:endParaRPr>
            </a:p>
          </p:txBody>
        </p:sp>
        <p:sp>
          <p:nvSpPr>
            <p:cNvPr id="97" name="직사각형 96"/>
            <p:cNvSpPr/>
            <p:nvPr/>
          </p:nvSpPr>
          <p:spPr>
            <a:xfrm rot="5400000">
              <a:off x="-4764916" y="4927104"/>
              <a:ext cx="9892931" cy="45719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 dirty="0">
                <a:solidFill>
                  <a:schemeClr val="bg1"/>
                </a:solidFill>
                <a:latin typeface="청소년서체" panose="02020603020101020101" pitchFamily="18" charset="-127"/>
                <a:ea typeface="청소년서체" panose="02020603020101020101" pitchFamily="18" charset="-127"/>
              </a:endParaRPr>
            </a:p>
          </p:txBody>
        </p:sp>
        <p:sp>
          <p:nvSpPr>
            <p:cNvPr id="96" name="직사각형 95"/>
            <p:cNvSpPr/>
            <p:nvPr/>
          </p:nvSpPr>
          <p:spPr>
            <a:xfrm rot="16200000">
              <a:off x="-4897691" y="4871428"/>
              <a:ext cx="9906002" cy="144000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ko-KR" sz="1400" dirty="0">
                <a:solidFill>
                  <a:prstClr val="white"/>
                </a:solidFill>
                <a:latin typeface="정부상징 부처명_16040911" panose="02020503020101020101" pitchFamily="18" charset="-127"/>
                <a:ea typeface="정부상징 부처명_16040911" panose="02020503020101020101" pitchFamily="18" charset="-127"/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0" y="9521370"/>
              <a:ext cx="6858000" cy="384627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>
                <a:solidFill>
                  <a:schemeClr val="bg1"/>
                </a:solidFill>
                <a:latin typeface="정부상징 부처명_16040911" panose="02020503020101020101" pitchFamily="18" charset="-127"/>
                <a:ea typeface="정부상징 부처명_16040911" panose="02020503020101020101" pitchFamily="18" charset="-127"/>
              </a:endParaRPr>
            </a:p>
          </p:txBody>
        </p:sp>
      </p:grpSp>
      <p:sp>
        <p:nvSpPr>
          <p:cNvPr id="23" name="직사각형 22"/>
          <p:cNvSpPr/>
          <p:nvPr/>
        </p:nvSpPr>
        <p:spPr>
          <a:xfrm rot="21150303" flipH="1">
            <a:off x="484675" y="2244167"/>
            <a:ext cx="913677" cy="512101"/>
          </a:xfrm>
          <a:prstGeom prst="rect">
            <a:avLst/>
          </a:prstGeom>
          <a:solidFill>
            <a:srgbClr val="5E4C8A"/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spc="-150">
              <a:solidFill>
                <a:prstClr val="white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4" name="직사각형 33"/>
          <p:cNvSpPr/>
          <p:nvPr/>
        </p:nvSpPr>
        <p:spPr>
          <a:xfrm flipH="1">
            <a:off x="572916" y="2272805"/>
            <a:ext cx="890713" cy="465231"/>
          </a:xfrm>
          <a:prstGeom prst="rect">
            <a:avLst/>
          </a:prstGeom>
          <a:solidFill>
            <a:srgbClr val="3330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spc="-150" dirty="0">
                <a:solidFill>
                  <a:prstClr val="white"/>
                </a:solidFill>
                <a:latin typeface="+mn-ea"/>
              </a:rPr>
              <a:t>교육비</a:t>
            </a:r>
            <a:endParaRPr lang="en-US" altLang="ko-KR" sz="1500" b="1" spc="-150" dirty="0">
              <a:solidFill>
                <a:prstClr val="white"/>
              </a:solidFill>
              <a:latin typeface="+mn-ea"/>
            </a:endParaRPr>
          </a:p>
        </p:txBody>
      </p:sp>
      <p:cxnSp>
        <p:nvCxnSpPr>
          <p:cNvPr id="26" name="직선 연결선 25"/>
          <p:cNvCxnSpPr/>
          <p:nvPr/>
        </p:nvCxnSpPr>
        <p:spPr>
          <a:xfrm>
            <a:off x="1688717" y="2505421"/>
            <a:ext cx="4185611" cy="24923"/>
          </a:xfrm>
          <a:prstGeom prst="line">
            <a:avLst/>
          </a:prstGeom>
          <a:ln>
            <a:gradFill>
              <a:gsLst>
                <a:gs pos="0">
                  <a:srgbClr val="CDC2D3"/>
                </a:gs>
                <a:gs pos="100000">
                  <a:srgbClr val="F0ECE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7" name="표 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0189087"/>
              </p:ext>
            </p:extLst>
          </p:nvPr>
        </p:nvGraphicFramePr>
        <p:xfrm>
          <a:off x="980298" y="3058530"/>
          <a:ext cx="5218588" cy="1255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9334">
                  <a:extLst>
                    <a:ext uri="{9D8B030D-6E8A-4147-A177-3AD203B41FA5}">
                      <a16:colId xmlns:a16="http://schemas.microsoft.com/office/drawing/2014/main" val="525343164"/>
                    </a:ext>
                  </a:extLst>
                </a:gridCol>
                <a:gridCol w="2432825">
                  <a:extLst>
                    <a:ext uri="{9D8B030D-6E8A-4147-A177-3AD203B41FA5}">
                      <a16:colId xmlns:a16="http://schemas.microsoft.com/office/drawing/2014/main" val="3876331064"/>
                    </a:ext>
                  </a:extLst>
                </a:gridCol>
                <a:gridCol w="2056429">
                  <a:extLst>
                    <a:ext uri="{9D8B030D-6E8A-4147-A177-3AD203B41FA5}">
                      <a16:colId xmlns:a16="http://schemas.microsoft.com/office/drawing/2014/main" val="2641801744"/>
                    </a:ext>
                  </a:extLst>
                </a:gridCol>
              </a:tblGrid>
              <a:tr h="5712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5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T="42203" marB="42203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pc="-150" dirty="0">
                          <a:solidFill>
                            <a:srgbClr val="33304D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spc="-150" dirty="0">
                          <a:solidFill>
                            <a:srgbClr val="33304D"/>
                          </a:solidFill>
                          <a:latin typeface="+mn-ea"/>
                          <a:ea typeface="+mn-ea"/>
                        </a:rPr>
                        <a:t>인 기준</a:t>
                      </a:r>
                    </a:p>
                  </a:txBody>
                  <a:tcPr marT="42203" marB="42203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50" dirty="0">
                          <a:solidFill>
                            <a:srgbClr val="33304D"/>
                          </a:solidFill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T="42203" marB="42203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6677041"/>
                  </a:ext>
                </a:extLst>
              </a:tr>
              <a:tr h="68434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50" dirty="0">
                          <a:solidFill>
                            <a:srgbClr val="33304D"/>
                          </a:solidFill>
                          <a:latin typeface="+mn-ea"/>
                          <a:ea typeface="+mn-ea"/>
                        </a:rPr>
                        <a:t>일반</a:t>
                      </a:r>
                    </a:p>
                  </a:txBody>
                  <a:tcPr marT="42203" marB="42203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3,000,000</a:t>
                      </a:r>
                      <a:endParaRPr lang="ko-KR" altLang="en-US" sz="1000" spc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42203" marB="42203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spc="0" dirty="0">
                          <a:latin typeface="+mn-ea"/>
                          <a:ea typeface="+mn-ea"/>
                        </a:rPr>
                        <a:t>교재</a:t>
                      </a:r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spc="0" dirty="0">
                          <a:latin typeface="+mn-ea"/>
                          <a:ea typeface="+mn-ea"/>
                        </a:rPr>
                        <a:t>교육 재료 및 중식 제공</a:t>
                      </a:r>
                      <a:endParaRPr lang="en-US" altLang="ko-KR" sz="800" spc="0" dirty="0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spc="0" dirty="0">
                          <a:latin typeface="+mn-ea"/>
                          <a:ea typeface="+mn-ea"/>
                        </a:rPr>
                        <a:t>교안 비용은 별도</a:t>
                      </a:r>
                      <a:endParaRPr lang="en-US" altLang="ko-KR" sz="800" spc="0" dirty="0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spc="0" dirty="0">
                          <a:latin typeface="+mn-ea"/>
                          <a:ea typeface="+mn-ea"/>
                        </a:rPr>
                        <a:t>개강 이후 환불 불가</a:t>
                      </a:r>
                      <a:endParaRPr lang="en-US" altLang="ko-KR" sz="800" spc="0" dirty="0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spc="0" dirty="0">
                          <a:latin typeface="+mn-ea"/>
                          <a:ea typeface="+mn-ea"/>
                        </a:rPr>
                        <a:t>카드 계산시 </a:t>
                      </a:r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vat 10% </a:t>
                      </a:r>
                      <a:r>
                        <a:rPr lang="ko-KR" altLang="en-US" sz="800" spc="0" dirty="0">
                          <a:latin typeface="+mn-ea"/>
                          <a:ea typeface="+mn-ea"/>
                        </a:rPr>
                        <a:t>부가</a:t>
                      </a:r>
                    </a:p>
                  </a:txBody>
                  <a:tcPr marT="42203" marB="42203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6553683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B38399D4-EB81-4F27-859D-B8C2E089120F}"/>
              </a:ext>
            </a:extLst>
          </p:cNvPr>
          <p:cNvSpPr/>
          <p:nvPr/>
        </p:nvSpPr>
        <p:spPr>
          <a:xfrm>
            <a:off x="947300" y="4545058"/>
            <a:ext cx="5251585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latinLnBrk="0">
              <a:lnSpc>
                <a:spcPct val="130000"/>
              </a:lnSpc>
              <a:spcAft>
                <a:spcPts val="0"/>
              </a:spcAft>
            </a:pPr>
            <a:r>
              <a:rPr lang="en-US" altLang="ko-KR" sz="1000" b="1" kern="100" dirty="0">
                <a:solidFill>
                  <a:srgbClr val="000000"/>
                </a:solidFill>
                <a:latin typeface="맑은 고딕" panose="020B0503020000020004" pitchFamily="50" charset="-127"/>
                <a:cs typeface="Times New Roman" panose="02020603050405020304" pitchFamily="18" charset="0"/>
              </a:rPr>
              <a:t>CMK</a:t>
            </a:r>
            <a:r>
              <a:rPr lang="ko-KR" altLang="ko-KR" sz="1000" b="1" kern="100" dirty="0">
                <a:solidFill>
                  <a:srgbClr val="000000"/>
                </a:solidFill>
                <a:latin typeface="맑은 고딕" panose="020B0503020000020004" pitchFamily="50" charset="-127"/>
                <a:cs typeface="Times New Roman" panose="02020603050405020304" pitchFamily="18" charset="0"/>
              </a:rPr>
              <a:t>이미지코리아 </a:t>
            </a:r>
            <a:r>
              <a:rPr lang="ko-KR" altLang="en-US" sz="1000" b="1" kern="100" dirty="0" err="1">
                <a:solidFill>
                  <a:srgbClr val="000000"/>
                </a:solidFill>
                <a:latin typeface="맑은 고딕" panose="020B0503020000020004" pitchFamily="50" charset="-127"/>
                <a:cs typeface="Times New Roman" panose="02020603050405020304" pitchFamily="18" charset="0"/>
              </a:rPr>
              <a:t>조혜나</a:t>
            </a:r>
            <a:r>
              <a:rPr lang="ko-KR" altLang="en-US" sz="1000" b="1" kern="100" dirty="0">
                <a:solidFill>
                  <a:srgbClr val="000000"/>
                </a:solidFill>
                <a:latin typeface="맑은 고딕" panose="020B0503020000020004" pitchFamily="50" charset="-127"/>
                <a:cs typeface="Times New Roman" panose="02020603050405020304" pitchFamily="18" charset="0"/>
              </a:rPr>
              <a:t> 연구원 </a:t>
            </a:r>
            <a:r>
              <a:rPr lang="en-US" altLang="ko-KR" sz="1000" b="1" kern="100" dirty="0">
                <a:solidFill>
                  <a:srgbClr val="000000"/>
                </a:solidFill>
                <a:latin typeface="맑은 고딕" panose="020B0503020000020004" pitchFamily="50" charset="-127"/>
                <a:cs typeface="Times New Roman" panose="02020603050405020304" pitchFamily="18" charset="0"/>
              </a:rPr>
              <a:t>(Office: 031-284-2566/ C</a:t>
            </a:r>
            <a:r>
              <a:rPr lang="ko-KR" altLang="ko-KR" sz="1000" b="1" kern="100" dirty="0">
                <a:solidFill>
                  <a:srgbClr val="000000"/>
                </a:solidFill>
                <a:latin typeface="맑은 고딕" panose="020B0503020000020004" pitchFamily="50" charset="-127"/>
                <a:cs typeface="Times New Roman" panose="02020603050405020304" pitchFamily="18" charset="0"/>
              </a:rPr>
              <a:t>·</a:t>
            </a:r>
            <a:r>
              <a:rPr lang="en-US" altLang="ko-KR" sz="1000" b="1" kern="100" dirty="0">
                <a:solidFill>
                  <a:srgbClr val="000000"/>
                </a:solidFill>
                <a:latin typeface="맑은 고딕" panose="020B0503020000020004" pitchFamily="50" charset="-127"/>
                <a:cs typeface="Times New Roman" panose="02020603050405020304" pitchFamily="18" charset="0"/>
              </a:rPr>
              <a:t>P:010-8975-4897)</a:t>
            </a:r>
            <a:endParaRPr lang="ko-KR" altLang="ko-KR" sz="1000" kern="100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0">
              <a:lnSpc>
                <a:spcPct val="130000"/>
              </a:lnSpc>
              <a:spcAft>
                <a:spcPts val="0"/>
              </a:spcAft>
            </a:pPr>
            <a:r>
              <a:rPr lang="ko-KR" altLang="ko-KR" sz="10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※ 교육 비용 입금계좌 안내</a:t>
            </a:r>
          </a:p>
          <a:p>
            <a:pPr>
              <a:lnSpc>
                <a:spcPct val="130000"/>
              </a:lnSpc>
            </a:pPr>
            <a:r>
              <a:rPr lang="ko-KR" altLang="ko-KR" sz="1000" dirty="0">
                <a:cs typeface="Times New Roman" panose="02020603050405020304" pitchFamily="18" charset="0"/>
              </a:rPr>
              <a:t>국민은행</a:t>
            </a:r>
            <a:r>
              <a:rPr lang="en-US" altLang="ko-KR" sz="1000" dirty="0">
                <a:cs typeface="Times New Roman" panose="02020603050405020304" pitchFamily="18" charset="0"/>
              </a:rPr>
              <a:t> 482637-01-010024(</a:t>
            </a:r>
            <a:r>
              <a:rPr lang="ko-KR" altLang="ko-KR" sz="1000" dirty="0">
                <a:cs typeface="Times New Roman" panose="02020603050405020304" pitchFamily="18" charset="0"/>
              </a:rPr>
              <a:t>예금주</a:t>
            </a:r>
            <a:r>
              <a:rPr lang="en-US" altLang="ko-KR" sz="1000" dirty="0">
                <a:cs typeface="Times New Roman" panose="02020603050405020304" pitchFamily="18" charset="0"/>
              </a:rPr>
              <a:t>: CMK</a:t>
            </a:r>
            <a:r>
              <a:rPr lang="ko-KR" altLang="ko-KR" sz="1000" dirty="0" err="1">
                <a:cs typeface="Times New Roman" panose="02020603050405020304" pitchFamily="18" charset="0"/>
              </a:rPr>
              <a:t>이미지코리아</a:t>
            </a:r>
            <a:r>
              <a:rPr lang="en-US" altLang="ko-KR" sz="1000" dirty="0">
                <a:cs typeface="Times New Roman" panose="02020603050405020304" pitchFamily="18" charset="0"/>
              </a:rPr>
              <a:t>/</a:t>
            </a:r>
            <a:r>
              <a:rPr lang="ko-KR" altLang="ko-KR" sz="1000" dirty="0">
                <a:cs typeface="Times New Roman" panose="02020603050405020304" pitchFamily="18" charset="0"/>
              </a:rPr>
              <a:t>조미경</a:t>
            </a:r>
            <a:r>
              <a:rPr lang="en-US" altLang="ko-KR" sz="1000" dirty="0">
                <a:cs typeface="Times New Roman" panose="02020603050405020304" pitchFamily="18" charset="0"/>
              </a:rPr>
              <a:t>)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951518" y="6387535"/>
            <a:ext cx="4649671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latinLnBrk="0">
              <a:lnSpc>
                <a:spcPct val="130000"/>
              </a:lnSpc>
            </a:pPr>
            <a:r>
              <a:rPr lang="ko-KR" altLang="ko-KR" sz="1000" dirty="0"/>
              <a:t>수료자</a:t>
            </a:r>
            <a:r>
              <a:rPr lang="en-US" altLang="ko-KR" sz="1000" dirty="0"/>
              <a:t> CMK</a:t>
            </a:r>
            <a:r>
              <a:rPr lang="ko-KR" altLang="ko-KR" sz="1000" dirty="0"/>
              <a:t>이미지코리아 이미지 컨설턴트로 위촉</a:t>
            </a:r>
          </a:p>
          <a:p>
            <a:pPr lvl="0" latinLnBrk="0">
              <a:lnSpc>
                <a:spcPct val="130000"/>
              </a:lnSpc>
            </a:pPr>
            <a:r>
              <a:rPr lang="ko-KR" altLang="ko-KR" sz="1000" dirty="0"/>
              <a:t>수료 후</a:t>
            </a:r>
            <a:r>
              <a:rPr lang="en-US" altLang="ko-KR" sz="1000" dirty="0"/>
              <a:t> PI</a:t>
            </a:r>
            <a:r>
              <a:rPr lang="ko-KR" altLang="ko-KR" sz="1000" dirty="0"/>
              <a:t>교육 현장실습 </a:t>
            </a:r>
            <a:r>
              <a:rPr lang="en-US" altLang="ko-KR" sz="1000" dirty="0"/>
              <a:t>10</a:t>
            </a:r>
            <a:r>
              <a:rPr lang="ko-KR" altLang="ko-KR" sz="1000" dirty="0"/>
              <a:t>회 제공</a:t>
            </a:r>
            <a:r>
              <a:rPr lang="en-US" altLang="ko-KR" sz="1000" dirty="0"/>
              <a:t> (</a:t>
            </a:r>
            <a:r>
              <a:rPr lang="ko-KR" altLang="ko-KR" sz="1000" dirty="0"/>
              <a:t>교육과정</a:t>
            </a:r>
            <a:r>
              <a:rPr lang="en-US" altLang="ko-KR" sz="1000" dirty="0"/>
              <a:t> 18</a:t>
            </a:r>
            <a:r>
              <a:rPr lang="ko-KR" altLang="ko-KR" sz="1000" dirty="0"/>
              <a:t>시간 수료생에 한함</a:t>
            </a:r>
            <a:r>
              <a:rPr lang="en-US" altLang="ko-KR" sz="1000" dirty="0"/>
              <a:t>)</a:t>
            </a:r>
            <a:endParaRPr lang="ko-KR" altLang="ko-KR" sz="1000" dirty="0"/>
          </a:p>
          <a:p>
            <a:pPr>
              <a:lnSpc>
                <a:spcPct val="130000"/>
              </a:lnSpc>
            </a:pPr>
            <a:r>
              <a:rPr lang="ko-KR" altLang="en-US" sz="1000" dirty="0"/>
              <a:t>개인별 이미지스케일 프로그램 결과 보고서 증정</a:t>
            </a:r>
            <a:endParaRPr lang="en-US" altLang="ko-KR" sz="1000" dirty="0"/>
          </a:p>
          <a:p>
            <a:pPr>
              <a:lnSpc>
                <a:spcPct val="130000"/>
              </a:lnSpc>
            </a:pPr>
            <a:r>
              <a:rPr lang="en-US" altLang="ko-KR" sz="1000" dirty="0">
                <a:solidFill>
                  <a:srgbClr val="C00000"/>
                </a:solidFill>
                <a:latin typeface="+mn-ea"/>
              </a:rPr>
              <a:t>CMK</a:t>
            </a:r>
            <a:r>
              <a:rPr lang="ko-KR" altLang="en-US" sz="1000" dirty="0">
                <a:solidFill>
                  <a:srgbClr val="C00000"/>
                </a:solidFill>
                <a:latin typeface="+mn-ea"/>
              </a:rPr>
              <a:t>이미지코리아에서 개발한 </a:t>
            </a:r>
            <a:r>
              <a:rPr lang="en-US" altLang="ko-KR" sz="1000" dirty="0">
                <a:solidFill>
                  <a:srgbClr val="C00000"/>
                </a:solidFill>
                <a:latin typeface="+mn-ea"/>
              </a:rPr>
              <a:t>TOOL &amp; </a:t>
            </a:r>
            <a:r>
              <a:rPr lang="ko-KR" altLang="en-US" sz="1000" dirty="0">
                <a:solidFill>
                  <a:srgbClr val="C00000"/>
                </a:solidFill>
                <a:latin typeface="+mn-ea"/>
              </a:rPr>
              <a:t>강사 사용 교안 제공</a:t>
            </a:r>
            <a:r>
              <a:rPr lang="en-US" altLang="ko-KR" sz="1000" dirty="0">
                <a:solidFill>
                  <a:srgbClr val="C00000"/>
                </a:solidFill>
                <a:latin typeface="+mn-ea"/>
              </a:rPr>
              <a:t>.</a:t>
            </a:r>
            <a:endParaRPr lang="ko-KR" altLang="en-US" sz="1000" dirty="0"/>
          </a:p>
        </p:txBody>
      </p:sp>
      <p:sp>
        <p:nvSpPr>
          <p:cNvPr id="22" name="직사각형 21"/>
          <p:cNvSpPr/>
          <p:nvPr/>
        </p:nvSpPr>
        <p:spPr>
          <a:xfrm flipH="1">
            <a:off x="574859" y="5647848"/>
            <a:ext cx="890713" cy="465231"/>
          </a:xfrm>
          <a:prstGeom prst="rect">
            <a:avLst/>
          </a:prstGeom>
          <a:solidFill>
            <a:srgbClr val="3330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spc="-150" dirty="0">
                <a:solidFill>
                  <a:prstClr val="white"/>
                </a:solidFill>
                <a:latin typeface="+mn-ea"/>
              </a:rPr>
              <a:t>교육특전</a:t>
            </a:r>
            <a:endParaRPr lang="en-US" altLang="ko-KR" sz="1500" b="1" spc="-150" dirty="0">
              <a:solidFill>
                <a:prstClr val="white"/>
              </a:solidFill>
              <a:latin typeface="+mn-ea"/>
            </a:endParaRPr>
          </a:p>
        </p:txBody>
      </p:sp>
      <p:cxnSp>
        <p:nvCxnSpPr>
          <p:cNvPr id="24" name="직선 연결선 23"/>
          <p:cNvCxnSpPr/>
          <p:nvPr/>
        </p:nvCxnSpPr>
        <p:spPr>
          <a:xfrm>
            <a:off x="1690659" y="5880463"/>
            <a:ext cx="4183668" cy="24923"/>
          </a:xfrm>
          <a:prstGeom prst="line">
            <a:avLst/>
          </a:prstGeom>
          <a:ln>
            <a:gradFill>
              <a:gsLst>
                <a:gs pos="0">
                  <a:srgbClr val="CDC2D3"/>
                </a:gs>
                <a:gs pos="100000">
                  <a:srgbClr val="F0ECE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936380" y="398042"/>
            <a:ext cx="14526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spc="-150" dirty="0">
                <a:latin typeface="+mn-ea"/>
              </a:rPr>
              <a:t>3. </a:t>
            </a:r>
            <a:r>
              <a:rPr lang="ko-KR" altLang="en-US" sz="2000" b="1" spc="-150" dirty="0">
                <a:latin typeface="+mn-ea"/>
              </a:rPr>
              <a:t>결제 안내</a:t>
            </a:r>
          </a:p>
        </p:txBody>
      </p:sp>
    </p:spTree>
    <p:extLst>
      <p:ext uri="{BB962C8B-B14F-4D97-AF65-F5344CB8AC3E}">
        <p14:creationId xmlns:p14="http://schemas.microsoft.com/office/powerpoint/2010/main" val="9071538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1389</Words>
  <Application>Microsoft Office PowerPoint</Application>
  <PresentationFormat>화면 슬라이드 쇼(4:3)</PresentationFormat>
  <Paragraphs>229</Paragraphs>
  <Slides>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7" baseType="lpstr">
      <vt:lpstr>KoPub돋움체 Bold</vt:lpstr>
      <vt:lpstr>KoPub돋움체 Medium</vt:lpstr>
      <vt:lpstr>맑은 고딕</vt:lpstr>
      <vt:lpstr>정부상징 부처명_16040911</vt:lpstr>
      <vt:lpstr>청소년서체</vt:lpstr>
      <vt:lpstr>Arial</vt:lpstr>
      <vt:lpstr>Times New Roman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미경 조</cp:lastModifiedBy>
  <cp:revision>4</cp:revision>
  <dcterms:created xsi:type="dcterms:W3CDTF">2021-03-02T06:54:09Z</dcterms:created>
  <dcterms:modified xsi:type="dcterms:W3CDTF">2026-08-31T02:22:20Z</dcterms:modified>
</cp:coreProperties>
</file>