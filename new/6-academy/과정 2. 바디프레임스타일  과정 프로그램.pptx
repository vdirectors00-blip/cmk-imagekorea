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70" r:id="rId3"/>
    <p:sldId id="277" r:id="rId4"/>
    <p:sldId id="271" r:id="rId5"/>
    <p:sldId id="276" r:id="rId6"/>
    <p:sldId id="273" r:id="rId7"/>
    <p:sldId id="278" r:id="rId8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1" userDrawn="1">
          <p15:clr>
            <a:srgbClr val="A4A3A4"/>
          </p15:clr>
        </p15:guide>
        <p15:guide id="2" pos="1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4B8A"/>
    <a:srgbClr val="BB8AEA"/>
    <a:srgbClr val="33304D"/>
    <a:srgbClr val="F0E6FA"/>
    <a:srgbClr val="E6E6E6"/>
    <a:srgbClr val="F7F7F7"/>
    <a:srgbClr val="9793BB"/>
    <a:srgbClr val="E2CEF6"/>
    <a:srgbClr val="7030A0"/>
    <a:srgbClr val="137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24" autoAdjust="0"/>
    <p:restoredTop sz="96247" autoAdjust="0"/>
  </p:normalViewPr>
  <p:slideViewPr>
    <p:cSldViewPr snapToGrid="0">
      <p:cViewPr varScale="1">
        <p:scale>
          <a:sx n="112" d="100"/>
          <a:sy n="112" d="100"/>
        </p:scale>
        <p:origin x="4458" y="102"/>
      </p:cViewPr>
      <p:guideLst>
        <p:guide orient="horz" pos="1941"/>
        <p:guide pos="13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미경 조" userId="9c818cba518b6188" providerId="LiveId" clId="{A84E4481-2534-430E-8AB4-6BD7018AAFFB}"/>
    <pc:docChg chg="modSld">
      <pc:chgData name="미경 조" userId="9c818cba518b6188" providerId="LiveId" clId="{A84E4481-2534-430E-8AB4-6BD7018AAFFB}" dt="2024-07-08T01:46:38.528" v="9" actId="20577"/>
      <pc:docMkLst>
        <pc:docMk/>
      </pc:docMkLst>
      <pc:sldChg chg="modSp mod">
        <pc:chgData name="미경 조" userId="9c818cba518b6188" providerId="LiveId" clId="{A84E4481-2534-430E-8AB4-6BD7018AAFFB}" dt="2024-07-08T01:46:38.528" v="9" actId="20577"/>
        <pc:sldMkLst>
          <pc:docMk/>
          <pc:sldMk cId="1093354290" sldId="256"/>
        </pc:sldMkLst>
        <pc:spChg chg="mod">
          <ac:chgData name="미경 조" userId="9c818cba518b6188" providerId="LiveId" clId="{A84E4481-2534-430E-8AB4-6BD7018AAFFB}" dt="2024-07-08T01:46:38.528" v="9" actId="20577"/>
          <ac:spMkLst>
            <pc:docMk/>
            <pc:sldMk cId="1093354290" sldId="256"/>
            <ac:spMk id="4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2BC5B-A5A2-4742-AD93-73AA5176346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8ADF3-F304-4CF8-A155-58F868AEBA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1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8ADF3-F304-4CF8-A155-58F868AEBA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5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1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17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3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2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07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25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6E6"/>
            </a:gs>
            <a:gs pos="100000">
              <a:srgbClr val="E6E6E6"/>
            </a:gs>
            <a:gs pos="89000">
              <a:schemeClr val="bg1"/>
            </a:gs>
            <a:gs pos="12000">
              <a:schemeClr val="bg1">
                <a:lumMod val="0"/>
                <a:lumOff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B337-C65D-493B-9E25-DB0373697223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4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6200000">
            <a:off x="-4651016" y="4624753"/>
            <a:ext cx="9906002" cy="637351"/>
          </a:xfrm>
          <a:prstGeom prst="rect">
            <a:avLst/>
          </a:prstGeom>
          <a:blipFill>
            <a:blip r:embed="rId3"/>
            <a:srcRect/>
            <a:stretch>
              <a:fillRect l="-27205" t="-90322" r="-9377" b="-870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white"/>
                </a:solidFill>
                <a:latin typeface="+mn-ea"/>
              </a:rPr>
              <a:t>     CMK IMAGE KOREA CMK</a:t>
            </a:r>
            <a:r>
              <a:rPr lang="ko-KR" altLang="en-US" sz="1400" dirty="0">
                <a:solidFill>
                  <a:prstClr val="white"/>
                </a:solidFill>
                <a:latin typeface="+mn-ea"/>
              </a:rPr>
              <a:t>이미지코리아</a:t>
            </a:r>
            <a:endParaRPr lang="en-US" altLang="ko-KR" sz="140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840364" y="2150013"/>
            <a:ext cx="5661270" cy="0"/>
          </a:xfrm>
          <a:prstGeom prst="line">
            <a:avLst/>
          </a:prstGeom>
          <a:ln w="38100">
            <a:solidFill>
              <a:srgbClr val="5E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476687" y="2281077"/>
            <a:ext cx="6385879" cy="1293001"/>
          </a:xfrm>
          <a:prstGeom prst="roundRect">
            <a:avLst>
              <a:gd name="adj" fmla="val 5484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+mn-ea"/>
              </a:rPr>
              <a:t>바디프레임스타일 전문가 과정</a:t>
            </a:r>
          </a:p>
        </p:txBody>
      </p:sp>
      <p:grpSp>
        <p:nvGrpSpPr>
          <p:cNvPr id="384" name="그룹 383"/>
          <p:cNvGrpSpPr/>
          <p:nvPr/>
        </p:nvGrpSpPr>
        <p:grpSpPr>
          <a:xfrm>
            <a:off x="739332" y="312563"/>
            <a:ext cx="5903216" cy="842915"/>
            <a:chOff x="739332" y="80446"/>
            <a:chExt cx="10716539" cy="1292780"/>
          </a:xfrm>
        </p:grpSpPr>
        <p:sp>
          <p:nvSpPr>
            <p:cNvPr id="385" name="타원 384"/>
            <p:cNvSpPr/>
            <p:nvPr/>
          </p:nvSpPr>
          <p:spPr>
            <a:xfrm>
              <a:off x="1556615" y="159657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타원 385"/>
            <p:cNvSpPr/>
            <p:nvPr/>
          </p:nvSpPr>
          <p:spPr>
            <a:xfrm>
              <a:off x="1982993" y="80446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타원 386"/>
            <p:cNvSpPr/>
            <p:nvPr/>
          </p:nvSpPr>
          <p:spPr>
            <a:xfrm>
              <a:off x="1902007" y="736123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타원 387"/>
            <p:cNvSpPr/>
            <p:nvPr/>
          </p:nvSpPr>
          <p:spPr>
            <a:xfrm>
              <a:off x="2291971" y="438799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타원 388"/>
            <p:cNvSpPr/>
            <p:nvPr/>
          </p:nvSpPr>
          <p:spPr>
            <a:xfrm>
              <a:off x="2981334" y="334436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타원 389"/>
            <p:cNvSpPr/>
            <p:nvPr/>
          </p:nvSpPr>
          <p:spPr>
            <a:xfrm>
              <a:off x="3023246" y="126676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타원 390"/>
            <p:cNvSpPr/>
            <p:nvPr/>
          </p:nvSpPr>
          <p:spPr>
            <a:xfrm rot="20677582">
              <a:off x="739332" y="575144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타원 391"/>
            <p:cNvSpPr/>
            <p:nvPr/>
          </p:nvSpPr>
          <p:spPr>
            <a:xfrm rot="20677582">
              <a:off x="983800" y="434177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타원 392"/>
            <p:cNvSpPr/>
            <p:nvPr/>
          </p:nvSpPr>
          <p:spPr>
            <a:xfrm rot="20677582">
              <a:off x="989131" y="861703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타원 393"/>
            <p:cNvSpPr/>
            <p:nvPr/>
          </p:nvSpPr>
          <p:spPr>
            <a:xfrm rot="20677582">
              <a:off x="1177286" y="614752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타원 394"/>
            <p:cNvSpPr/>
            <p:nvPr/>
          </p:nvSpPr>
          <p:spPr>
            <a:xfrm rot="20677582">
              <a:off x="1535104" y="453297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" name="타원 395"/>
            <p:cNvSpPr/>
            <p:nvPr/>
          </p:nvSpPr>
          <p:spPr>
            <a:xfrm rot="20677582">
              <a:off x="1495001" y="377292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" name="타원 396"/>
            <p:cNvSpPr/>
            <p:nvPr/>
          </p:nvSpPr>
          <p:spPr>
            <a:xfrm flipH="1">
              <a:off x="9785832" y="178230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" name="타원 397"/>
            <p:cNvSpPr/>
            <p:nvPr/>
          </p:nvSpPr>
          <p:spPr>
            <a:xfrm flipH="1">
              <a:off x="8938003" y="99019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" name="타원 398"/>
            <p:cNvSpPr/>
            <p:nvPr/>
          </p:nvSpPr>
          <p:spPr>
            <a:xfrm flipH="1">
              <a:off x="9770552" y="754696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" name="타원 399"/>
            <p:cNvSpPr/>
            <p:nvPr/>
          </p:nvSpPr>
          <p:spPr>
            <a:xfrm flipH="1">
              <a:off x="9029435" y="457372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" name="타원 400"/>
            <p:cNvSpPr/>
            <p:nvPr/>
          </p:nvSpPr>
          <p:spPr>
            <a:xfrm flipH="1">
              <a:off x="8299007" y="353009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" name="타원 401"/>
            <p:cNvSpPr/>
            <p:nvPr/>
          </p:nvSpPr>
          <p:spPr>
            <a:xfrm flipH="1">
              <a:off x="8756438" y="145249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" name="타원 402"/>
            <p:cNvSpPr/>
            <p:nvPr/>
          </p:nvSpPr>
          <p:spPr>
            <a:xfrm rot="922418" flipH="1">
              <a:off x="10980393" y="593717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" name="타원 403"/>
            <p:cNvSpPr/>
            <p:nvPr/>
          </p:nvSpPr>
          <p:spPr>
            <a:xfrm rot="922418" flipH="1">
              <a:off x="10500934" y="452750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" name="타원 404"/>
            <p:cNvSpPr/>
            <p:nvPr/>
          </p:nvSpPr>
          <p:spPr>
            <a:xfrm rot="922418" flipH="1">
              <a:off x="10914657" y="880276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" name="타원 405"/>
            <p:cNvSpPr/>
            <p:nvPr/>
          </p:nvSpPr>
          <p:spPr>
            <a:xfrm rot="922418" flipH="1">
              <a:off x="10530707" y="633325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" name="타원 406"/>
            <p:cNvSpPr/>
            <p:nvPr/>
          </p:nvSpPr>
          <p:spPr>
            <a:xfrm rot="922418" flipH="1">
              <a:off x="10149992" y="471870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타원 407"/>
            <p:cNvSpPr/>
            <p:nvPr/>
          </p:nvSpPr>
          <p:spPr>
            <a:xfrm rot="922418" flipH="1">
              <a:off x="10468518" y="395865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5" name="직선 연결선 54"/>
          <p:cNvCxnSpPr/>
          <p:nvPr/>
        </p:nvCxnSpPr>
        <p:spPr>
          <a:xfrm flipH="1">
            <a:off x="2226316" y="4943428"/>
            <a:ext cx="1" cy="2207925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870291" y="5577984"/>
            <a:ext cx="1031052" cy="1085377"/>
            <a:chOff x="1422959" y="4793001"/>
            <a:chExt cx="1031052" cy="1085377"/>
          </a:xfrm>
        </p:grpSpPr>
        <p:grpSp>
          <p:nvGrpSpPr>
            <p:cNvPr id="19" name="그룹 18"/>
            <p:cNvGrpSpPr/>
            <p:nvPr/>
          </p:nvGrpSpPr>
          <p:grpSpPr>
            <a:xfrm>
              <a:off x="1668484" y="4793001"/>
              <a:ext cx="540000" cy="540000"/>
              <a:chOff x="1530615" y="3607452"/>
              <a:chExt cx="756000" cy="756000"/>
            </a:xfrm>
          </p:grpSpPr>
          <p:sp>
            <p:nvSpPr>
              <p:cNvPr id="51" name="타원 50"/>
              <p:cNvSpPr/>
              <p:nvPr/>
            </p:nvSpPr>
            <p:spPr>
              <a:xfrm>
                <a:off x="1530615" y="3607452"/>
                <a:ext cx="756000" cy="756000"/>
              </a:xfrm>
              <a:prstGeom prst="ellipse">
                <a:avLst/>
              </a:prstGeom>
              <a:solidFill>
                <a:srgbClr val="5F4B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Freeform 11"/>
              <p:cNvSpPr>
                <a:spLocks noEditPoints="1"/>
              </p:cNvSpPr>
              <p:nvPr/>
            </p:nvSpPr>
            <p:spPr bwMode="auto">
              <a:xfrm>
                <a:off x="1779266" y="3826647"/>
                <a:ext cx="258699" cy="317610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2" name="직사각형 61"/>
            <p:cNvSpPr/>
            <p:nvPr/>
          </p:nvSpPr>
          <p:spPr>
            <a:xfrm>
              <a:off x="1422959" y="5370547"/>
              <a:ext cx="1031052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+mn-ea"/>
                </a:rPr>
                <a:t>교육안내</a:t>
              </a:r>
              <a:endParaRPr lang="en-US" altLang="ko-KR" spc="-150" dirty="0">
                <a:latin typeface="+mn-ea"/>
              </a:endParaRPr>
            </a:p>
          </p:txBody>
        </p:sp>
      </p:grpSp>
      <p:sp>
        <p:nvSpPr>
          <p:cNvPr id="452" name="직사각형 451"/>
          <p:cNvSpPr/>
          <p:nvPr/>
        </p:nvSpPr>
        <p:spPr>
          <a:xfrm>
            <a:off x="2339177" y="5105011"/>
            <a:ext cx="3570208" cy="203132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 일정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: 2025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년 월 일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일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교육시간 </a:t>
            </a:r>
            <a:r>
              <a:rPr lang="ko-KR" altLang="en-US" sz="1400" b="1" dirty="0">
                <a:solidFill>
                  <a:srgbClr val="3F3C57"/>
                </a:solidFill>
                <a:latin typeface="+mn-ea"/>
              </a:rPr>
              <a:t>┃ </a:t>
            </a: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2DAYS, 12HR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3F3C57"/>
                </a:solidFill>
                <a:latin typeface="+mn-ea"/>
              </a:rPr>
              <a:t>                   </a:t>
            </a:r>
            <a:r>
              <a:rPr lang="en-US" altLang="ko-KR" sz="1400" dirty="0">
                <a:latin typeface="+mn-ea"/>
              </a:rPr>
              <a:t>10:00 ~ 17:00 (6</a:t>
            </a:r>
            <a:r>
              <a:rPr lang="ko-KR" altLang="ko-KR" sz="1400" dirty="0">
                <a:latin typeface="+mn-ea"/>
              </a:rPr>
              <a:t>시간</a:t>
            </a:r>
            <a:r>
              <a:rPr lang="en-US" altLang="ko-KR" sz="1400" dirty="0">
                <a:latin typeface="+mn-ea"/>
              </a:rPr>
              <a:t>/1</a:t>
            </a:r>
            <a:r>
              <a:rPr lang="ko-KR" altLang="ko-KR" sz="1400" dirty="0">
                <a:latin typeface="+mn-ea"/>
              </a:rPr>
              <a:t>일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교육장소 ┃</a:t>
            </a:r>
            <a:r>
              <a:rPr lang="ko-KR" altLang="en-US" sz="1400" dirty="0" err="1">
                <a:solidFill>
                  <a:srgbClr val="3F3C57"/>
                </a:solidFill>
                <a:latin typeface="+mn-ea"/>
              </a:rPr>
              <a:t>이미지민</a:t>
            </a: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3F3C57"/>
                </a:solidFill>
                <a:latin typeface="+mn-ea"/>
              </a:rPr>
              <a:t> </a:t>
            </a:r>
            <a:endParaRPr lang="en-US" altLang="ko-KR" sz="1400" dirty="0">
              <a:solidFill>
                <a:srgbClr val="3F3C57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35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09726" y="4198296"/>
            <a:ext cx="170591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/>
              <a:t>조 미경</a:t>
            </a:r>
            <a:endParaRPr lang="en-US" altLang="ko-KR" sz="1500" b="1" dirty="0"/>
          </a:p>
          <a:p>
            <a:r>
              <a:rPr lang="en-US" altLang="ko-KR" sz="1500" dirty="0"/>
              <a:t>CMK</a:t>
            </a:r>
            <a:r>
              <a:rPr lang="ko-KR" altLang="en-US" sz="1500" dirty="0"/>
              <a:t>이미지코리아</a:t>
            </a:r>
            <a:endParaRPr lang="en-US" altLang="ko-KR" sz="1500" dirty="0"/>
          </a:p>
          <a:p>
            <a:r>
              <a:rPr lang="ko-KR" altLang="en-US" sz="1500" dirty="0"/>
              <a:t>대표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37703"/>
            <a:ext cx="180000" cy="180000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5027821" y="43121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1. </a:t>
            </a:r>
            <a:r>
              <a:rPr lang="ko-KR" altLang="en-US" sz="2000" b="1" spc="-150" dirty="0">
                <a:latin typeface="+mn-ea"/>
              </a:rPr>
              <a:t>강사 프로필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167" y="1053875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CEO</a:t>
            </a:r>
            <a:r>
              <a:rPr lang="ko-KR" altLang="en-US" sz="2000" b="1" spc="-150" dirty="0">
                <a:latin typeface="+mn-ea"/>
              </a:rPr>
              <a:t> 프로필</a:t>
            </a: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49D28833-39F6-4FAF-BE11-74377C9F5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01108"/>
              </p:ext>
            </p:extLst>
          </p:nvPr>
        </p:nvGraphicFramePr>
        <p:xfrm>
          <a:off x="2277287" y="1836731"/>
          <a:ext cx="4356593" cy="7323542"/>
        </p:xfrm>
        <a:graphic>
          <a:graphicData uri="http://schemas.openxmlformats.org/drawingml/2006/table">
            <a:tbl>
              <a:tblPr firstRow="1" bandRow="1"/>
              <a:tblGrid>
                <a:gridCol w="590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30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학력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교육학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박사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AICI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국제이미지컨설던트협회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서울챕터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명예 회장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Shu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Uemura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Beauty College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수료 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프랑스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)Jean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Perre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dirty="0" err="1">
                          <a:latin typeface="+mn-ea"/>
                          <a:ea typeface="+mn-ea"/>
                        </a:rPr>
                        <a:t>Fleurimon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Make-Up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22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경력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</a:pP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한성대학교 예술대학원 뷰티예술학부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외래교수뷰티디자인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학회 산학협력 운영위원장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LVMH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그룹 겔랑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코스메틱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임원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SBS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美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뷰티아카데미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대표원장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㈜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아모레퍼시픽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태평양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뷰티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아카데미 창설 멤버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조선대학교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영상디자인학부 겸임교수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문화체육관광부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주최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각부처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장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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국장과장급 </a:t>
                      </a:r>
                      <a:endParaRPr lang="en-US" altLang="ko-KR" sz="900" b="0" dirty="0"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dirty="0">
                          <a:latin typeface="+mn-ea"/>
                          <a:ea typeface="+mn-ea"/>
                          <a:sym typeface="Wingdings" pitchFamily="2" charset="2"/>
                        </a:rPr>
                        <a:t>  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미디어 트레이닝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국무총리실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장관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차관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국장급 개인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컨설팅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SK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그룹 임원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현대자동차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카마스터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및 임직원 교육과 개인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루이비통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마크제이콥스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크리스찬디올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MCM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등 명품 브랜드 강의 진행과 임원 개인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진행</a:t>
                      </a:r>
                      <a:endParaRPr lang="en-US" altLang="ko-KR" sz="900" b="0" baseline="0" dirty="0">
                        <a:latin typeface="+mn-ea"/>
                        <a:ea typeface="+mn-ea"/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</a:pPr>
                      <a:r>
                        <a:rPr lang="ko-KR" altLang="ko-KR" sz="900" b="0" dirty="0" err="1">
                          <a:latin typeface="+mn-ea"/>
                          <a:ea typeface="+mn-ea"/>
                        </a:rPr>
                        <a:t>ㆍ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하나은행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신한은행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우리은행 책임자급 교육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 및 </a:t>
                      </a:r>
                      <a:br>
                        <a:rPr lang="en-US" altLang="ko-KR" sz="900" b="0" baseline="0" dirty="0">
                          <a:latin typeface="+mn-ea"/>
                          <a:ea typeface="+mn-ea"/>
                        </a:rPr>
                      </a:b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0" baseline="0" dirty="0">
                          <a:latin typeface="+mn-ea"/>
                          <a:ea typeface="+mn-ea"/>
                        </a:rPr>
                        <a:t>임원진 개인 컨설팅 진행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7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교육이수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및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자격사항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TASTE Image Scale</a:t>
                      </a:r>
                      <a:r>
                        <a:rPr lang="en-US" altLang="ko-KR" sz="9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미국 일본 특허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ea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골격분석자격증 과정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PCA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주최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PERSONAL COLOR TEST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DAKIKAWA ESTHETIC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수료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JECIKA NAIL ART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JEAN PERRE FLEURIMON MAKE-UP SCHOOL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연수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JOE BRASCO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미디어 메이크업 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독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 STAGE COLOR PERSONAL COLOR TEST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서강대학교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MBTI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강사과정수료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멕스웰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리더쉽과정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일반과정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윌슨러닝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코리아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프리젠테이션스킬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수료</a:t>
                      </a: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한국유행색산업협회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한국산업디자인진흥원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문은배 색채디자인 연구소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한국컬러협회 컬러코디네이터 인증 </a:t>
                      </a:r>
                      <a:endParaRPr lang="en-US" altLang="ko-KR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ㆍ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컬러리스트 자격증 취득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산업인력관리공단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76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강의분야</a:t>
                      </a: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이미지메이킹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이미지 진단 및 분석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디스크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셀프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이미지 설계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PI – APPEARANCE/BEHAVIOR/COMMUNICATION</a:t>
                      </a:r>
                      <a:endParaRPr lang="ko-KR" altLang="en-US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퍼스널 컬러 이미지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메이크업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패션 </a:t>
                      </a:r>
                      <a:r>
                        <a:rPr lang="ko-KR" altLang="en-US" sz="900" b="0" i="0" u="none" strike="noStrike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코디네이션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서비스 마인드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비즈니스 매너</a:t>
                      </a: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900" b="0" i="0" u="none" strike="noStrike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바디랭귀지 스킬</a:t>
                      </a:r>
                      <a:endParaRPr lang="en-US" altLang="ko-KR" sz="900" b="0" i="0" u="none" strike="noStrike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8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저서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58435" marR="58435" marT="60960" marB="6096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자신감을 높여라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』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프리젠테이션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dirty="0" err="1">
                          <a:latin typeface="+mn-ea"/>
                          <a:ea typeface="+mn-ea"/>
                        </a:rPr>
                        <a:t>코칭북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』</a:t>
                      </a:r>
                      <a:endParaRPr lang="ko-KR" altLang="en-US" sz="900" b="0" dirty="0">
                        <a:latin typeface="+mn-ea"/>
                        <a:ea typeface="+mn-ea"/>
                      </a:endParaRPr>
                    </a:p>
                    <a:p>
                      <a:pPr eaLnBrk="1" hangingPunct="1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『 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퍼스널 컬러리스트 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b="0" dirty="0">
                          <a:latin typeface="+mn-ea"/>
                          <a:ea typeface="+mn-ea"/>
                        </a:rPr>
                        <a:t>급 자격시험</a:t>
                      </a:r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 』</a:t>
                      </a:r>
                    </a:p>
                  </a:txBody>
                  <a:tcPr marL="83077" marR="83077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Picture 2" descr="C:\Users\win10\Desktop\신문광고\대표님 정면사진\DSC00352 사본.png">
            <a:extLst>
              <a:ext uri="{FF2B5EF4-FFF2-40B4-BE49-F238E27FC236}">
                <a16:creationId xmlns:a16="http://schemas.microsoft.com/office/drawing/2014/main" id="{829C0CA5-6AFC-46E8-A6FF-FA4F649EF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62"/>
          <a:stretch/>
        </p:blipFill>
        <p:spPr bwMode="auto">
          <a:xfrm>
            <a:off x="363849" y="1864756"/>
            <a:ext cx="1869996" cy="230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87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청소년서체" panose="02020603020101020101" pitchFamily="18" charset="-127"/>
                <a:ea typeface="청소년서체" panose="02020603020101020101" pitchFamily="18" charset="-127"/>
                <a:cs typeface="+mn-cs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청소년서체" panose="02020603020101020101" pitchFamily="18" charset="-127"/>
                <a:ea typeface="청소년서체" panose="02020603020101020101" pitchFamily="18" charset="-127"/>
                <a:cs typeface="+mn-cs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정부상징 부처명_16040911" panose="02020503020101020101" pitchFamily="18" charset="-127"/>
                <a:ea typeface="정부상징 부처명_16040911" panose="02020503020101020101" pitchFamily="18" charset="-127"/>
                <a:cs typeface="+mn-cs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정부상징 부처명_16040911" panose="02020503020101020101" pitchFamily="18" charset="-127"/>
                <a:ea typeface="정부상징 부처명_16040911" panose="02020503020101020101" pitchFamily="18" charset="-127"/>
                <a:cs typeface="+mn-cs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37703"/>
            <a:ext cx="180000" cy="180000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594167" y="105387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강사 프로필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1" t="10940" r="15392" b="35307"/>
          <a:stretch/>
        </p:blipFill>
        <p:spPr bwMode="auto">
          <a:xfrm>
            <a:off x="594167" y="1690387"/>
            <a:ext cx="1852194" cy="228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611826" y="1699179"/>
          <a:ext cx="4068374" cy="7401397"/>
        </p:xfrm>
        <a:graphic>
          <a:graphicData uri="http://schemas.openxmlformats.org/drawingml/2006/table">
            <a:tbl>
              <a:tblPr firstRow="1" bandRow="1"/>
              <a:tblGrid>
                <a:gridCol w="101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9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학력</a:t>
                      </a:r>
                    </a:p>
                  </a:txBody>
                  <a:tcPr marL="63305" marR="63305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고려대학교 교육대학원 교육학 석사 과정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5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경력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3305" marR="63305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現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CMK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이미지코리아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교육 팀장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現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신구대학교 교양학부 외래교수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現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대한프레젠테이션협회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급 강사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미만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前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SK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그룹 리더십 개발센터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前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BASF Korea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인사팀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前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닥터자르트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인사팀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교육이수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및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자격사항</a:t>
                      </a:r>
                    </a:p>
                  </a:txBody>
                  <a:tcPr marL="63305" marR="63305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CMK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이미지코리아 이미지컨설턴트 강사과정 수료</a:t>
                      </a:r>
                      <a:endParaRPr kumimoji="0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이미지메이킹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지도사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급 자격</a:t>
                      </a:r>
                      <a:endParaRPr kumimoji="0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프레젠테이션 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급 강사 자격</a:t>
                      </a:r>
                      <a:endParaRPr kumimoji="0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NCS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진로취업 컨설턴트 자격 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진로직업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상담사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자격</a:t>
                      </a:r>
                      <a:endParaRPr kumimoji="0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9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강의분야</a:t>
                      </a:r>
                    </a:p>
                  </a:txBody>
                  <a:tcPr marL="63305" marR="63305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디지털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리터러시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온라인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퍼실리테이션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메타버스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프레젠테이션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파워포인트 워크숍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사내강사양성과정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이미지메이킹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리더 이미지 컨설팅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미디어 트레이닝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성향분석 기반의 조직활성화 및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팀빌딩</a:t>
                      </a:r>
                      <a:endParaRPr kumimoji="0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84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강의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및 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  <a:p>
                      <a:pPr marL="0" marR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컨설팅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경력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63305" marR="63305" marT="60960" marB="609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85725" marR="0" lvl="0" indent="-857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 </a:t>
                      </a: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공공기관 및 공단 </a:t>
                      </a: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</a:t>
                      </a:r>
                      <a:b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고용노동부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국방부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산림청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국립재활원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교육부 중앙교육연수원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경기도혁신교육연수원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강원도인재개발원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강원도교육연수원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세종시공무원교육원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천안공무원교육원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충남공무원교육원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부산관광공사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수자원공사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국토정보공사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국민건강보험공단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지방자치인재개발원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관세국경관리연수원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한국보건복지인력개발원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지방공기업평가원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충북창조경제혁신센터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인천소방학교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경기도소방학교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울산시청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금천구청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강동구청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경기도 일자리재단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안산시 일자리재단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평택시 일자리재단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강원테크노파트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대전테크노파크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울산보건소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수협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농협 안성교육원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외 다수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 </a:t>
                      </a: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기업 </a:t>
                      </a: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</a:t>
                      </a:r>
                      <a:b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현대자동차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현대해상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LG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하우시스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LG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인화원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LG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유플러스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LG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화학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CJ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대한통운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CJ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인재원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SK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하이닉스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SK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홀딩스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SK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브로드밴드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롯데그룹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NAVER,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동국제강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TV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조선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한독약품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BNCT,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한화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무림그룹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에어필립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판토스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토다이수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삼성증권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키움증권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미래에셋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대우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KEB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하나은행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BNP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파리바카디프생명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KB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손해보험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한국유타카전자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컴투스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로커스게임즈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쌍방울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솔베이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비비안웨스트우드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베루툼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닥터자르트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레이크힐스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CC,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기흥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CC,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라마다호텔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르메르디앙호텔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등</a:t>
                      </a: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ko-KR" altLang="en-US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 </a:t>
                      </a:r>
                      <a:r>
                        <a:rPr kumimoji="0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학교 </a:t>
                      </a:r>
                      <a: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</a:t>
                      </a:r>
                      <a:br>
                        <a:rPr kumimoji="0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고려대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경희대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동국대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숭실대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가톨릭대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광운대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강원대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한국기술교육대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경북대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군산대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순천대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공주대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을지대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대림대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한림대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한림성심대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한국관광대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동양미래대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신구대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한국방송통신대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한국폴리텍대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호원대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관동대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농협대</a:t>
                      </a:r>
                      <a:r>
                        <a:rPr kumimoji="0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9726" y="4198296"/>
            <a:ext cx="19591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안 수현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디어빌리티그룹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 대표</a:t>
            </a: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5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460239"/>
              </p:ext>
            </p:extLst>
          </p:nvPr>
        </p:nvGraphicFramePr>
        <p:xfrm>
          <a:off x="297887" y="1958698"/>
          <a:ext cx="6466634" cy="4389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593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5699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649415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57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7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모듈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세부내용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132893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일차</a:t>
                      </a:r>
                      <a:endParaRPr lang="en-US" altLang="ko-KR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Identity/Image</a:t>
                      </a:r>
                    </a:p>
                    <a:p>
                      <a:pPr latinLnBrk="1"/>
                      <a:r>
                        <a:rPr lang="en-US" altLang="ko-KR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Facial shapes</a:t>
                      </a: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여성 바디 프레임 스타일의 특징과 분류</a:t>
                      </a:r>
                      <a:endParaRPr lang="en-US" altLang="ko-KR" sz="1200" b="1" kern="1200" baseline="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endParaRPr kumimoji="0" lang="en-US" altLang="ko-KR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Adobe 고딕 Std B" panose="020B0800000000000000" pitchFamily="34" charset="-127"/>
                        <a:cs typeface="Segoe UI Semibold" panose="020B0702040204020203" pitchFamily="34" charset="0"/>
                      </a:endParaRPr>
                    </a:p>
                    <a:p>
                      <a:pPr latinLnBrk="1"/>
                      <a:endParaRPr lang="en-US" altLang="ko-KR" sz="1200" b="1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강사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: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조미경</a:t>
                      </a:r>
                      <a:endParaRPr lang="en-US" altLang="ko-KR" sz="120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endParaRPr kumimoji="1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.Identity 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형성 및 이미지의 관계</a:t>
                      </a: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Facial shapes Round/Square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OVAL /HEXAGON .ROUND /SQUARE .OBLONG /RECTANGLE. HEART /TRIAGLE. PEAR /DIAMOND .SPADE /POLYGON</a:t>
                      </a:r>
                      <a:endParaRPr kumimoji="1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라인분석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체형 타입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과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스타일의 특징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ko-K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Straiht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Wave, Natural)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골격 분석의 특징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Straight, Wave, Natural)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여성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스타일의 특징과 분류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endParaRPr kumimoji="1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13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 err="1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lang="ko-KR" altLang="en-US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1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스타일 </a:t>
                      </a:r>
                      <a:r>
                        <a:rPr lang="en-US" altLang="ko-KR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 </a:t>
                      </a:r>
                      <a:endParaRPr lang="en-US" altLang="ko-KR" sz="1200" b="1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 err="1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꼴라쥬</a:t>
                      </a:r>
                      <a:r>
                        <a:rPr lang="ko-KR" altLang="en-US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실습</a:t>
                      </a:r>
                      <a:endParaRPr lang="en-US" altLang="ko-KR" sz="1200" b="1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개인별</a:t>
                      </a:r>
                      <a:r>
                        <a:rPr lang="en-US" altLang="ko-KR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액세서리</a:t>
                      </a:r>
                      <a:r>
                        <a:rPr lang="en-US" altLang="ko-KR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1" kern="1200" baseline="0" dirty="0" err="1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컬렉션지</a:t>
                      </a:r>
                      <a:r>
                        <a:rPr lang="ko-KR" altLang="en-US" sz="1200" b="1" kern="1200" baseline="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지참 </a:t>
                      </a:r>
                      <a:r>
                        <a:rPr lang="en-US" altLang="ko-KR" sz="1200" b="1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강사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: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조미경</a:t>
                      </a:r>
                      <a:endParaRPr lang="en-US" altLang="ko-KR" sz="120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ko-KR" sz="1200" kern="120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골격 분석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체크시트를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활용한 진단 노하우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여성 페이스 골격 유형과 아이템 스타일링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여성 바디 골격 유형 분석과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코디네이션</a:t>
                      </a:r>
                      <a:endParaRPr kumimoji="1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여성 바디프레임스타일 의상 액세서리 소품 </a:t>
                      </a:r>
                      <a:b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꼴라쥬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Straight, Wave, Natural)</a:t>
                      </a: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936380" y="43121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2. </a:t>
            </a:r>
            <a:r>
              <a:rPr lang="ko-KR" altLang="en-US" sz="2000" b="1" spc="-150" dirty="0">
                <a:latin typeface="+mn-ea"/>
              </a:rPr>
              <a:t>교육 시간표</a:t>
            </a:r>
          </a:p>
        </p:txBody>
      </p:sp>
    </p:spTree>
    <p:extLst>
      <p:ext uri="{BB962C8B-B14F-4D97-AF65-F5344CB8AC3E}">
        <p14:creationId xmlns:p14="http://schemas.microsoft.com/office/powerpoint/2010/main" val="331921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10063"/>
              </p:ext>
            </p:extLst>
          </p:nvPr>
        </p:nvGraphicFramePr>
        <p:xfrm>
          <a:off x="297887" y="1785700"/>
          <a:ext cx="6466634" cy="481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593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5699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649415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57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7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일차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모듈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+mn-ea"/>
                          <a:ea typeface="+mn-ea"/>
                        </a:rPr>
                        <a:t>세부내용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932510"/>
              </p:ext>
            </p:extLst>
          </p:nvPr>
        </p:nvGraphicFramePr>
        <p:xfrm>
          <a:off x="302885" y="2298743"/>
          <a:ext cx="6466634" cy="3186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8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697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일차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13:00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</a:t>
                      </a:r>
                      <a:r>
                        <a:rPr lang="ko-KR" altLang="en-US" sz="1200" kern="1200" dirty="0" err="1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lang="ko-KR" altLang="en-US" sz="1200" kern="120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스티일</a:t>
                      </a:r>
                      <a:r>
                        <a:rPr lang="ko-KR" altLang="en-US" sz="1200" kern="1200" baseline="0" dirty="0">
                          <a:solidFill>
                            <a:srgbClr val="7030A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특징과 분류</a:t>
                      </a:r>
                      <a:endParaRPr lang="en-US" altLang="ko-KR" sz="120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20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강사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: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안수현</a:t>
                      </a:r>
                      <a:endParaRPr lang="en-US" altLang="ko-KR" sz="120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200" b="1" dirty="0">
                        <a:solidFill>
                          <a:srgbClr val="7030A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남성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스타일 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타입과 타입 별 특징</a:t>
                      </a:r>
                      <a:endParaRPr kumimoji="1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남성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바디프레임</a:t>
                      </a: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스타일 진단을 위한 전제</a:t>
                      </a:r>
                      <a:endParaRPr kumimoji="1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en-US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  <a:r>
                        <a:rPr lang="ko-KR" altLang="en-US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5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2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17:00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골격 유형 분석과 </a:t>
                      </a:r>
                      <a:endParaRPr lang="en-US" altLang="ko-KR" sz="1200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</a:t>
                      </a:r>
                      <a:r>
                        <a:rPr lang="ko-KR" altLang="en-US" sz="1200" kern="1200" dirty="0" err="1">
                          <a:solidFill>
                            <a:srgbClr val="5F4B8A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꼴라쥬</a:t>
                      </a:r>
                      <a:endParaRPr lang="en-US" altLang="ko-KR" sz="1200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rgbClr val="5F4B8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강사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: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Adobe 고딕 Std B" panose="020B0800000000000000" pitchFamily="34" charset="-127"/>
                          <a:cs typeface="Segoe UI Semibold" panose="020B0702040204020203" pitchFamily="34" charset="0"/>
                        </a:rPr>
                        <a:t>안수현</a:t>
                      </a:r>
                      <a:endParaRPr lang="en-US" altLang="ko-KR" sz="120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ko-KR" sz="1200" kern="1200" dirty="0">
                        <a:solidFill>
                          <a:srgbClr val="BB8AEA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바디 골격 유형 분석과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코디네이션</a:t>
                      </a:r>
                      <a:endParaRPr kumimoji="1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바디프레임스타일 의상 액세서리 소품 </a:t>
                      </a:r>
                      <a:b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</a:t>
                      </a:r>
                      <a:r>
                        <a:rPr kumimoji="1" lang="ko-KR" alt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꼴라쥬</a:t>
                      </a:r>
                      <a:r>
                        <a:rPr kumimoji="1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Straight, Wave, Natural)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endParaRPr lang="ko-KR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36380" y="431212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2. </a:t>
            </a:r>
            <a:r>
              <a:rPr lang="ko-KR" altLang="en-US" sz="2000" b="1" spc="-150" dirty="0">
                <a:latin typeface="+mn-ea"/>
              </a:rPr>
              <a:t>교육 시간표</a:t>
            </a:r>
          </a:p>
        </p:txBody>
      </p:sp>
    </p:spTree>
    <p:extLst>
      <p:ext uri="{BB962C8B-B14F-4D97-AF65-F5344CB8AC3E}">
        <p14:creationId xmlns:p14="http://schemas.microsoft.com/office/powerpoint/2010/main" val="83940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 rot="21150303" flipH="1">
            <a:off x="484674" y="2431181"/>
            <a:ext cx="913677" cy="554776"/>
          </a:xfrm>
          <a:prstGeom prst="rect">
            <a:avLst/>
          </a:prstGeom>
          <a:solidFill>
            <a:srgbClr val="5E4C8A"/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spc="-15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직사각형 33"/>
          <p:cNvSpPr/>
          <p:nvPr/>
        </p:nvSpPr>
        <p:spPr>
          <a:xfrm flipH="1">
            <a:off x="572915" y="2462206"/>
            <a:ext cx="890713" cy="504000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688716" y="2714206"/>
            <a:ext cx="4185611" cy="27000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626482"/>
              </p:ext>
            </p:extLst>
          </p:nvPr>
        </p:nvGraphicFramePr>
        <p:xfrm>
          <a:off x="980298" y="3313408"/>
          <a:ext cx="5218588" cy="1068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34">
                  <a:extLst>
                    <a:ext uri="{9D8B030D-6E8A-4147-A177-3AD203B41FA5}">
                      <a16:colId xmlns:a16="http://schemas.microsoft.com/office/drawing/2014/main" val="525343164"/>
                    </a:ext>
                  </a:extLst>
                </a:gridCol>
                <a:gridCol w="2432825">
                  <a:extLst>
                    <a:ext uri="{9D8B030D-6E8A-4147-A177-3AD203B41FA5}">
                      <a16:colId xmlns:a16="http://schemas.microsoft.com/office/drawing/2014/main" val="3876331064"/>
                    </a:ext>
                  </a:extLst>
                </a:gridCol>
                <a:gridCol w="2056429">
                  <a:extLst>
                    <a:ext uri="{9D8B030D-6E8A-4147-A177-3AD203B41FA5}">
                      <a16:colId xmlns:a16="http://schemas.microsoft.com/office/drawing/2014/main" val="2641801744"/>
                    </a:ext>
                  </a:extLst>
                </a:gridCol>
              </a:tblGrid>
              <a:tr h="534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인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77041"/>
                  </a:ext>
                </a:extLst>
              </a:tr>
              <a:tr h="534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pc="-150" dirty="0">
                          <a:solidFill>
                            <a:srgbClr val="33304D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1,200,000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교재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재료비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간식 비용 포함</a:t>
                      </a:r>
                      <a:endParaRPr lang="en-US" altLang="ko-KR" sz="9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개강 이후 환불 불가</a:t>
                      </a:r>
                      <a:endParaRPr lang="en-US" altLang="ko-KR" sz="900" spc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카드 결제 시 </a:t>
                      </a:r>
                      <a:r>
                        <a:rPr lang="en-US" altLang="ko-KR" sz="900" spc="0" dirty="0">
                          <a:latin typeface="+mn-ea"/>
                          <a:ea typeface="+mn-ea"/>
                        </a:rPr>
                        <a:t>10% VAT </a:t>
                      </a:r>
                      <a:r>
                        <a:rPr lang="ko-KR" altLang="en-US" sz="900" spc="0" dirty="0">
                          <a:latin typeface="+mn-ea"/>
                          <a:ea typeface="+mn-ea"/>
                        </a:rPr>
                        <a:t>포함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55368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B38399D4-EB81-4F27-859D-B8C2E089120F}"/>
              </a:ext>
            </a:extLst>
          </p:cNvPr>
          <p:cNvSpPr/>
          <p:nvPr/>
        </p:nvSpPr>
        <p:spPr>
          <a:xfrm>
            <a:off x="947300" y="4728437"/>
            <a:ext cx="525158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CMK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이미지코리아 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kern="100" dirty="0" err="1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조혜나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실장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 (Office: 031-284-2566/ C</a:t>
            </a:r>
            <a:r>
              <a:rPr lang="ko-KR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·</a:t>
            </a:r>
            <a:r>
              <a:rPr lang="en-US" altLang="ko-KR" sz="1000" b="1" kern="100" dirty="0">
                <a:solidFill>
                  <a:srgbClr val="000000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P:010-8975 4897)</a:t>
            </a:r>
            <a:endParaRPr lang="ko-KR" altLang="ko-KR" sz="1000" kern="10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0">
              <a:lnSpc>
                <a:spcPct val="130000"/>
              </a:lnSpc>
              <a:spcAft>
                <a:spcPts val="0"/>
              </a:spcAft>
            </a:pPr>
            <a:r>
              <a:rPr lang="ko-KR" altLang="ko-KR" sz="1000" kern="1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※ 교육 비용 입금계좌 안내</a:t>
            </a:r>
          </a:p>
          <a:p>
            <a:pPr>
              <a:lnSpc>
                <a:spcPct val="130000"/>
              </a:lnSpc>
            </a:pPr>
            <a:r>
              <a:rPr lang="ko-KR" altLang="ko-KR" sz="1000" dirty="0">
                <a:cs typeface="Times New Roman" panose="02020603050405020304" pitchFamily="18" charset="0"/>
              </a:rPr>
              <a:t>국민은행</a:t>
            </a:r>
            <a:r>
              <a:rPr lang="en-US" altLang="ko-KR" sz="1000" dirty="0">
                <a:cs typeface="Times New Roman" panose="02020603050405020304" pitchFamily="18" charset="0"/>
              </a:rPr>
              <a:t> 482637-01-010024(</a:t>
            </a:r>
            <a:r>
              <a:rPr lang="ko-KR" altLang="ko-KR" sz="1000" dirty="0">
                <a:cs typeface="Times New Roman" panose="02020603050405020304" pitchFamily="18" charset="0"/>
              </a:rPr>
              <a:t>예금주</a:t>
            </a:r>
            <a:r>
              <a:rPr lang="en-US" altLang="ko-KR" sz="1000" dirty="0">
                <a:cs typeface="Times New Roman" panose="02020603050405020304" pitchFamily="18" charset="0"/>
              </a:rPr>
              <a:t>: CMK</a:t>
            </a:r>
            <a:r>
              <a:rPr lang="ko-KR" altLang="ko-KR" sz="1000" dirty="0" err="1">
                <a:cs typeface="Times New Roman" panose="02020603050405020304" pitchFamily="18" charset="0"/>
              </a:rPr>
              <a:t>이미지코리아</a:t>
            </a:r>
            <a:r>
              <a:rPr lang="en-US" altLang="ko-KR" sz="1000" dirty="0">
                <a:cs typeface="Times New Roman" panose="02020603050405020304" pitchFamily="18" charset="0"/>
              </a:rPr>
              <a:t>/</a:t>
            </a:r>
            <a:r>
              <a:rPr lang="ko-KR" altLang="ko-KR" sz="1000" dirty="0">
                <a:cs typeface="Times New Roman" panose="02020603050405020304" pitchFamily="18" charset="0"/>
              </a:rPr>
              <a:t>조미경</a:t>
            </a:r>
            <a:r>
              <a:rPr lang="en-US" altLang="ko-KR" sz="1000" dirty="0"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688715" y="6642649"/>
            <a:ext cx="4649671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ko-KR" sz="1000" b="1" dirty="0"/>
              <a:t>교안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일부 제공 </a:t>
            </a:r>
            <a:r>
              <a:rPr lang="en-US" altLang="ko-KR" sz="1000" b="1" dirty="0"/>
              <a:t>(PowerPoint File) </a:t>
            </a:r>
            <a:endParaRPr lang="ko-KR" altLang="ko-KR" sz="1000" b="1" dirty="0"/>
          </a:p>
          <a:p>
            <a:pPr marL="171450" lvl="0" indent="-171450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CMK IMAGE KOREA </a:t>
            </a:r>
            <a:r>
              <a:rPr lang="ko-KR" altLang="ko-KR" sz="1000" dirty="0"/>
              <a:t>파트너 이미지 컨설턴트 수료증 발급</a:t>
            </a:r>
            <a:endParaRPr lang="en-US" altLang="ko-KR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CMK 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이미지코리아 수료증 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현장실습 제공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 (feat. </a:t>
            </a:r>
            <a:r>
              <a:rPr lang="ko-KR" altLang="en-US" sz="1000" dirty="0" err="1">
                <a:solidFill>
                  <a:srgbClr val="3F3C57"/>
                </a:solidFill>
                <a:latin typeface="+mn-ea"/>
              </a:rPr>
              <a:t>조미경대표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CMK</a:t>
            </a:r>
            <a:r>
              <a:rPr lang="ko-KR" altLang="en-US" sz="1000" dirty="0" err="1">
                <a:solidFill>
                  <a:srgbClr val="3F3C57"/>
                </a:solidFill>
                <a:latin typeface="+mn-ea"/>
              </a:rPr>
              <a:t>바디프레임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 스타일 사용 권한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:(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상표등록 제 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40-1830043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호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제 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41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류 이미지메이킹관련 교육 강의 </a:t>
            </a:r>
            <a:r>
              <a:rPr lang="ko-KR" altLang="en-US" sz="1000" dirty="0" err="1">
                <a:solidFill>
                  <a:srgbClr val="3F3C57"/>
                </a:solidFill>
                <a:latin typeface="+mn-ea"/>
              </a:rPr>
              <a:t>제공업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 등 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20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건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CMK BODYFRAMESTYLE 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사용 권한 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상표등록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: 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제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 40-1830044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호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제 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45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류 개인의 체형 골격 측정 및 맞춤서비스로 이미지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메이킹을 위한 개인 스타일링서비스업</a:t>
            </a:r>
            <a:r>
              <a:rPr lang="en-US" altLang="ko-KR" sz="1000" dirty="0">
                <a:solidFill>
                  <a:srgbClr val="3F3C57"/>
                </a:solidFill>
                <a:latin typeface="+mn-ea"/>
              </a:rPr>
              <a:t>20</a:t>
            </a:r>
            <a:r>
              <a:rPr lang="ko-KR" altLang="en-US" sz="1000" dirty="0">
                <a:solidFill>
                  <a:srgbClr val="3F3C57"/>
                </a:solidFill>
                <a:latin typeface="+mn-ea"/>
              </a:rPr>
              <a:t>건</a:t>
            </a:r>
            <a:endParaRPr lang="en-US" altLang="ko-KR" sz="1000" dirty="0">
              <a:solidFill>
                <a:srgbClr val="3F3C57"/>
              </a:solidFill>
              <a:latin typeface="+mn-ea"/>
            </a:endParaRPr>
          </a:p>
          <a:p>
            <a:pPr lvl="0" latinLnBrk="0">
              <a:lnSpc>
                <a:spcPct val="130000"/>
              </a:lnSpc>
            </a:pPr>
            <a:endParaRPr lang="ko-KR" altLang="ko-KR" sz="1000" dirty="0"/>
          </a:p>
        </p:txBody>
      </p:sp>
      <p:sp>
        <p:nvSpPr>
          <p:cNvPr id="22" name="직사각형 21"/>
          <p:cNvSpPr/>
          <p:nvPr/>
        </p:nvSpPr>
        <p:spPr>
          <a:xfrm flipH="1">
            <a:off x="572915" y="5585183"/>
            <a:ext cx="890713" cy="504000"/>
          </a:xfrm>
          <a:prstGeom prst="rect">
            <a:avLst/>
          </a:prstGeom>
          <a:solidFill>
            <a:srgbClr val="333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50" dirty="0">
                <a:solidFill>
                  <a:prstClr val="white"/>
                </a:solidFill>
                <a:latin typeface="+mn-ea"/>
              </a:rPr>
              <a:t>교육특전</a:t>
            </a:r>
            <a:endParaRPr lang="en-US" altLang="ko-KR" sz="1500" b="1" spc="-150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1690659" y="6370502"/>
            <a:ext cx="4183668" cy="27000"/>
          </a:xfrm>
          <a:prstGeom prst="line">
            <a:avLst/>
          </a:prstGeom>
          <a:ln>
            <a:gradFill>
              <a:gsLst>
                <a:gs pos="0">
                  <a:srgbClr val="CDC2D3"/>
                </a:gs>
                <a:gs pos="100000">
                  <a:srgbClr val="F0ECE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13551" y="243294"/>
            <a:ext cx="28504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>
                <a:latin typeface="+mn-ea"/>
              </a:rPr>
              <a:t>3. </a:t>
            </a:r>
            <a:r>
              <a:rPr lang="ko-KR" altLang="en-US" sz="2000" b="1" spc="-150" dirty="0">
                <a:latin typeface="+mn-ea"/>
              </a:rPr>
              <a:t>결제 안내 및 교육 특전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197" y="7355887"/>
            <a:ext cx="1585304" cy="207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7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80" y="4966791"/>
            <a:ext cx="3193512" cy="451978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005003" y="621337"/>
            <a:ext cx="24208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상표등록증</a:t>
            </a: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0" lang="ko-KR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강의 컨설팅 진행 가능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79" y="4966791"/>
            <a:ext cx="3209178" cy="419662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805" y="369990"/>
            <a:ext cx="3091123" cy="43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7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noFill/>
        </a:ln>
      </a:spPr>
      <a:bodyPr rtlCol="0" anchor="ctr"/>
      <a:lstStyle>
        <a:defPPr algn="ctr">
          <a:defRPr sz="1200">
            <a:solidFill>
              <a:sysClr val="windowText" lastClr="000000"/>
            </a:solidFill>
            <a:latin typeface="KoPub돋움체 Light" panose="02020603020101020101" pitchFamily="18" charset="-127"/>
            <a:ea typeface="KoPub돋움체 Light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Words>1092</Words>
  <Application>Microsoft Office PowerPoint</Application>
  <PresentationFormat>A4 용지(210x297mm)</PresentationFormat>
  <Paragraphs>183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KoPub돋움체 Bold</vt:lpstr>
      <vt:lpstr>KoPub바탕체 Bold</vt:lpstr>
      <vt:lpstr>맑은 고딕</vt:lpstr>
      <vt:lpstr>정부상징 부처명_16040911</vt:lpstr>
      <vt:lpstr>청소년서체</vt:lpstr>
      <vt:lpstr>Arial</vt:lpstr>
      <vt:lpstr>Calibri</vt:lpstr>
      <vt:lpstr>Calibri Light</vt:lpstr>
      <vt:lpstr>Segoe UI Semibold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미경 조</cp:lastModifiedBy>
  <cp:revision>234</cp:revision>
  <dcterms:created xsi:type="dcterms:W3CDTF">2018-01-05T11:03:25Z</dcterms:created>
  <dcterms:modified xsi:type="dcterms:W3CDTF">2025-03-06T01:38:53Z</dcterms:modified>
</cp:coreProperties>
</file>